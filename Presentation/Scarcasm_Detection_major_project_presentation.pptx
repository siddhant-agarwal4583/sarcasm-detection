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E0B6DE8-A86D-4769-AFD7-F3257A7589E0}">
  <a:tblStyle styleId="{CE0B6DE8-A86D-4769-AFD7-F3257A7589E0}"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D2CFA2D-E71C-4A79-A15F-722EF2C0059E}"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B6ED5B6-0BC6-41D2-8E14-1989918827C2}"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 name="Google Shape;3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70cb06fbc5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g270cb06fbc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70cb06fbc5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g270cb06fbc5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70cb06fbc5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270cb06fbc5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70d2c84c9a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70d2c84c9a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270d2c84c9a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70cb071bd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70cb071bd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270cb071bd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70cb06fbc5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70cb06fbc5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270cb06fbc5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70cb06fbc5_3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70cb06fbc5_3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270cb06fbc5_3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70cb06fbc5_3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70cb06fbc5_3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270cb06fbc5_3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70cb071bda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70cb071bda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270cb071bda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70cb06fbc5_3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70cb06fbc5_3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270cb06fbc5_3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70cb071bda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70cb071bda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270cb071bda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70d2c84c9a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70d2c84c9a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270d2c84c9a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70d2c84c9a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70d2c84c9a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270d2c84c9a_0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70cb071bda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g270cb071bda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70d2c84c9a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270d2c84c9a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70d2c84c9a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70d2c84c9a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270d2c84c9a_0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70d2c84c9a_0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270d2c84c9a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70d2c84c9a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270d2c84c9a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70d2c84c9a_0_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270d2c84c9a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70cb06fbc5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270cb06fbc5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70cb071bda_2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270cb071bda_2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70cb071bda_2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70cb071bda_2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270cb071bda_2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8"/>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2"/>
          <p:cNvSpPr/>
          <p:nvPr/>
        </p:nvSpPr>
        <p:spPr>
          <a:xfrm>
            <a:off x="156000" y="102649"/>
            <a:ext cx="11880000" cy="6660000"/>
          </a:xfrm>
          <a:prstGeom prst="roundRect">
            <a:avLst>
              <a:gd fmla="val 2021" name="adj"/>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0" name="Google Shape;20;p2"/>
          <p:cNvCxnSpPr/>
          <p:nvPr/>
        </p:nvCxnSpPr>
        <p:spPr>
          <a:xfrm>
            <a:off x="336000" y="1989000"/>
            <a:ext cx="11520000" cy="0"/>
          </a:xfrm>
          <a:prstGeom prst="straightConnector1">
            <a:avLst/>
          </a:prstGeom>
          <a:noFill/>
          <a:ln cap="flat" cmpd="sng" w="12700">
            <a:solidFill>
              <a:srgbClr val="C00000"/>
            </a:solidFill>
            <a:prstDash val="solid"/>
            <a:miter lim="800000"/>
            <a:headEnd len="med" w="med" type="oval"/>
            <a:tailEnd len="med" w="med" type="oval"/>
          </a:ln>
        </p:spPr>
      </p:cxnSp>
      <p:sp>
        <p:nvSpPr>
          <p:cNvPr id="21" name="Google Shape;21;p2"/>
          <p:cNvSpPr txBox="1"/>
          <p:nvPr>
            <p:ph type="ctrTitle"/>
          </p:nvPr>
        </p:nvSpPr>
        <p:spPr>
          <a:xfrm>
            <a:off x="336000" y="1065670"/>
            <a:ext cx="11520000" cy="92333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336000" y="2734268"/>
            <a:ext cx="11520000" cy="42473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3" name="Shape 23"/>
        <p:cNvGrpSpPr/>
        <p:nvPr/>
      </p:nvGrpSpPr>
      <p:grpSpPr>
        <a:xfrm>
          <a:off x="0" y="0"/>
          <a:ext cx="0" cy="0"/>
          <a:chOff x="0" y="0"/>
          <a:chExt cx="0" cy="0"/>
        </a:xfrm>
      </p:grpSpPr>
      <p:sp>
        <p:nvSpPr>
          <p:cNvPr id="24" name="Google Shape;24;p3"/>
          <p:cNvSpPr txBox="1"/>
          <p:nvPr>
            <p:ph idx="10" type="dt"/>
          </p:nvPr>
        </p:nvSpPr>
        <p:spPr>
          <a:xfrm>
            <a:off x="838200" y="635635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8"/>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3"/>
          <p:cNvSpPr/>
          <p:nvPr/>
        </p:nvSpPr>
        <p:spPr>
          <a:xfrm>
            <a:off x="156000" y="102649"/>
            <a:ext cx="11880000" cy="6660000"/>
          </a:xfrm>
          <a:prstGeom prst="roundRect">
            <a:avLst>
              <a:gd fmla="val 2021" name="adj"/>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8" name="Google Shape;28;p3"/>
          <p:cNvCxnSpPr/>
          <p:nvPr/>
        </p:nvCxnSpPr>
        <p:spPr>
          <a:xfrm>
            <a:off x="336000" y="639000"/>
            <a:ext cx="11520000" cy="0"/>
          </a:xfrm>
          <a:prstGeom prst="straightConnector1">
            <a:avLst/>
          </a:prstGeom>
          <a:noFill/>
          <a:ln cap="flat" cmpd="sng" w="12700">
            <a:solidFill>
              <a:srgbClr val="C00000"/>
            </a:solidFill>
            <a:prstDash val="solid"/>
            <a:miter lim="800000"/>
            <a:headEnd len="med" w="med" type="oval"/>
            <a:tailEnd len="med" w="med" type="oval"/>
          </a:ln>
        </p:spPr>
      </p:cxnSp>
      <p:sp>
        <p:nvSpPr>
          <p:cNvPr id="29" name="Google Shape;29;p3"/>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3200"/>
              <a:buFont typeface="Calibri"/>
              <a:buNone/>
              <a:defRPr sz="3200" cap="sma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0" name="Google Shape;30;p3"/>
          <p:cNvPicPr preferRelativeResize="0"/>
          <p:nvPr/>
        </p:nvPicPr>
        <p:blipFill rotWithShape="1">
          <a:blip r:embed="rId2">
            <a:alphaModFix/>
          </a:blip>
          <a:srcRect b="0" l="0" r="0" t="0"/>
          <a:stretch/>
        </p:blipFill>
        <p:spPr>
          <a:xfrm>
            <a:off x="11407413" y="142471"/>
            <a:ext cx="448587" cy="4485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spTree>
      <p:nvGrpSpPr>
        <p:cNvPr id="31" name="Shape 31"/>
        <p:cNvGrpSpPr/>
        <p:nvPr/>
      </p:nvGrpSpPr>
      <p:grpSpPr>
        <a:xfrm>
          <a:off x="0" y="0"/>
          <a:ext cx="0" cy="0"/>
          <a:chOff x="0" y="0"/>
          <a:chExt cx="0" cy="0"/>
        </a:xfrm>
      </p:grpSpPr>
      <p:sp>
        <p:nvSpPr>
          <p:cNvPr id="32" name="Google Shape;32;p4"/>
          <p:cNvSpPr/>
          <p:nvPr/>
        </p:nvSpPr>
        <p:spPr>
          <a:xfrm>
            <a:off x="156000" y="102649"/>
            <a:ext cx="11880000" cy="6660000"/>
          </a:xfrm>
          <a:prstGeom prst="roundRect">
            <a:avLst>
              <a:gd fmla="val 2021" name="adj"/>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8"/>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8"/>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8"/>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dl.acm.org/doi/abs/10.1145/3124420" TargetMode="External"/><Relationship Id="rId4" Type="http://schemas.openxmlformats.org/officeDocument/2006/relationships/hyperlink" Target="https://arxiv.org/pdf/1810.04805" TargetMode="External"/><Relationship Id="rId9" Type="http://schemas.openxmlformats.org/officeDocument/2006/relationships/hyperlink" Target="https://arxiv.org/pdf/2209.11055" TargetMode="External"/><Relationship Id="rId5" Type="http://schemas.openxmlformats.org/officeDocument/2006/relationships/hyperlink" Target="https://arxiv.org/pdf/1907.11692" TargetMode="External"/><Relationship Id="rId6" Type="http://schemas.openxmlformats.org/officeDocument/2006/relationships/hyperlink" Target="https://d4mucfpksywv.cloudfront.net/better-language-models/language-models.pdf" TargetMode="External"/><Relationship Id="rId7" Type="http://schemas.openxmlformats.org/officeDocument/2006/relationships/hyperlink" Target="https://arxiv.org/pdf/1908.07414" TargetMode="External"/><Relationship Id="rId8" Type="http://schemas.openxmlformats.org/officeDocument/2006/relationships/hyperlink" Target="https://arxiv.org/pdf/1910.01108"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kaggle.com/datasets/raviutsavk/indian-news-sarcastic-headline-datase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hyperlink" Target="https://jalammar.github.io/a-visual-guide-to-using-bert-for-the-first-tim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www.kaggle.com/code/siddhantagarwal4583/fork-of-gpt2-fine-tuning/edit" TargetMode="External"/><Relationship Id="rId4" Type="http://schemas.openxmlformats.org/officeDocument/2006/relationships/hyperlink" Target="https://www.kaggle.com/code/siddhantagarwal4583/roberta-fine-tuning-3" TargetMode="External"/><Relationship Id="rId10" Type="http://schemas.openxmlformats.org/officeDocument/2006/relationships/hyperlink" Target="https://colab.research.google.com/drive/1LT9lxKAoQcH538xTfYwkZem0bl8Aijgw?usp=sharing" TargetMode="External"/><Relationship Id="rId9" Type="http://schemas.openxmlformats.org/officeDocument/2006/relationships/hyperlink" Target="https://colab.research.google.com/drive/1uU9VM4W7_WZeS5b2KbaGK1rZz9rSCPvk?usp=sharing" TargetMode="External"/><Relationship Id="rId5" Type="http://schemas.openxmlformats.org/officeDocument/2006/relationships/hyperlink" Target="https://www.kaggle.com/code/siddhantagarwal4583/gpt2-fine-tuning" TargetMode="External"/><Relationship Id="rId6" Type="http://schemas.openxmlformats.org/officeDocument/2006/relationships/hyperlink" Target="https://colab.research.google.com/drive/1FLnP5KQVmU9fer1hekkw41A7e_5ZJOID" TargetMode="External"/><Relationship Id="rId7" Type="http://schemas.openxmlformats.org/officeDocument/2006/relationships/hyperlink" Target="https://colab.research.google.com/drive/1GtnuA-1VTyn5kKrTAjjPntI9oX1r2qT_?usp=sharing" TargetMode="External"/><Relationship Id="rId8" Type="http://schemas.openxmlformats.org/officeDocument/2006/relationships/hyperlink" Target="https://colab.research.google.com/drive/1_fE-CiLerV_Gp8dQmWriHlCEIRTq7zca?usp=sharin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www.kaggle.com/datasets/raviutsavk/indian-news-sarcastic-headline-datase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5"/>
          <p:cNvSpPr txBox="1"/>
          <p:nvPr>
            <p:ph type="ctrTitle"/>
          </p:nvPr>
        </p:nvSpPr>
        <p:spPr>
          <a:xfrm>
            <a:off x="336000" y="1231870"/>
            <a:ext cx="11520000" cy="757130"/>
          </a:xfrm>
          <a:prstGeom prst="rect">
            <a:avLst/>
          </a:prstGeom>
          <a:noFill/>
          <a:ln>
            <a:noFill/>
          </a:ln>
        </p:spPr>
        <p:txBody>
          <a:bodyPr anchorCtr="0" anchor="b" bIns="45700" lIns="91425" spcFirstLastPara="1" rIns="91425" wrap="square" tIns="45700">
            <a:spAutoFit/>
          </a:bodyPr>
          <a:lstStyle/>
          <a:p>
            <a:pPr indent="0" lvl="0" marL="0" rtl="0" algn="ctr">
              <a:lnSpc>
                <a:spcPct val="90000"/>
              </a:lnSpc>
              <a:spcBef>
                <a:spcPts val="0"/>
              </a:spcBef>
              <a:spcAft>
                <a:spcPts val="0"/>
              </a:spcAft>
              <a:buClr>
                <a:srgbClr val="C00000"/>
              </a:buClr>
              <a:buSzPts val="4800"/>
              <a:buFont typeface="Calibri"/>
              <a:buNone/>
            </a:pPr>
            <a:r>
              <a:rPr lang="en-US" sz="4800" cap="small">
                <a:solidFill>
                  <a:srgbClr val="C00000"/>
                </a:solidFill>
              </a:rPr>
              <a:t>Sarcasm Detection</a:t>
            </a:r>
            <a:endParaRPr/>
          </a:p>
        </p:txBody>
      </p:sp>
      <p:pic>
        <p:nvPicPr>
          <p:cNvPr id="39" name="Google Shape;39;p5"/>
          <p:cNvPicPr preferRelativeResize="0"/>
          <p:nvPr/>
        </p:nvPicPr>
        <p:blipFill rotWithShape="1">
          <a:blip r:embed="rId3">
            <a:alphaModFix/>
          </a:blip>
          <a:srcRect b="0" l="0" r="0" t="0"/>
          <a:stretch/>
        </p:blipFill>
        <p:spPr>
          <a:xfrm>
            <a:off x="5118420" y="2259000"/>
            <a:ext cx="1955160" cy="1955160"/>
          </a:xfrm>
          <a:prstGeom prst="rect">
            <a:avLst/>
          </a:prstGeom>
          <a:noFill/>
          <a:ln>
            <a:noFill/>
          </a:ln>
        </p:spPr>
      </p:pic>
      <p:graphicFrame>
        <p:nvGraphicFramePr>
          <p:cNvPr id="40" name="Google Shape;40;p5"/>
          <p:cNvGraphicFramePr/>
          <p:nvPr/>
        </p:nvGraphicFramePr>
        <p:xfrm>
          <a:off x="336000" y="4484160"/>
          <a:ext cx="3000000" cy="3000000"/>
        </p:xfrm>
        <a:graphic>
          <a:graphicData uri="http://schemas.openxmlformats.org/drawingml/2006/table">
            <a:tbl>
              <a:tblPr bandRow="1" firstRow="1">
                <a:noFill/>
                <a:tableStyleId>{CE0B6DE8-A86D-4769-AFD7-F3257A7589E0}</a:tableStyleId>
              </a:tblPr>
              <a:tblGrid>
                <a:gridCol w="5760000"/>
                <a:gridCol w="5760000"/>
              </a:tblGrid>
              <a:tr h="1959850">
                <a:tc>
                  <a:txBody>
                    <a:bodyPr/>
                    <a:lstStyle/>
                    <a:p>
                      <a:pPr indent="0" lvl="0" marL="0" marR="0" rtl="0" algn="l">
                        <a:spcBef>
                          <a:spcPts val="0"/>
                        </a:spcBef>
                        <a:spcAft>
                          <a:spcPts val="0"/>
                        </a:spcAft>
                        <a:buNone/>
                      </a:pPr>
                      <a:r>
                        <a:rPr lang="en-US" sz="2400" u="none" cap="none" strike="noStrike"/>
                        <a:t>Presented By:</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rPr lang="en-US" sz="1800"/>
                        <a:t>Ravi Utsav (IIT2020504)</a:t>
                      </a:r>
                      <a:endParaRPr/>
                    </a:p>
                    <a:p>
                      <a:pPr indent="0" lvl="0" marL="0" marR="0" rtl="0" algn="l">
                        <a:spcBef>
                          <a:spcPts val="0"/>
                        </a:spcBef>
                        <a:spcAft>
                          <a:spcPts val="0"/>
                        </a:spcAft>
                        <a:buNone/>
                      </a:pPr>
                      <a:r>
                        <a:rPr lang="en-US" sz="1800"/>
                        <a:t>Siddhant Agrawal (IIT2020228)</a:t>
                      </a:r>
                      <a:endParaRPr/>
                    </a:p>
                    <a:p>
                      <a:pPr indent="0" lvl="0" marL="0" marR="0" rtl="0" algn="l">
                        <a:spcBef>
                          <a:spcPts val="0"/>
                        </a:spcBef>
                        <a:spcAft>
                          <a:spcPts val="0"/>
                        </a:spcAft>
                        <a:buNone/>
                      </a:pPr>
                      <a:r>
                        <a:rPr lang="en-US" sz="1800"/>
                        <a:t>Shreyans Jain (IIT2020238)</a:t>
                      </a:r>
                      <a:endParaRPr/>
                    </a:p>
                    <a:p>
                      <a:pPr indent="0" lvl="0" marL="0" marR="0" rtl="0" algn="l">
                        <a:spcBef>
                          <a:spcPts val="0"/>
                        </a:spcBef>
                        <a:spcAft>
                          <a:spcPts val="0"/>
                        </a:spcAft>
                        <a:buNone/>
                      </a:pPr>
                      <a:r>
                        <a:rPr b="1" lang="en-US" sz="1800"/>
                        <a:t>Department of IT</a:t>
                      </a:r>
                      <a:endParaRPr b="1"/>
                    </a:p>
                    <a:p>
                      <a:pPr indent="0" lvl="0" marL="0" marR="0" rtl="0" algn="l">
                        <a:spcBef>
                          <a:spcPts val="0"/>
                        </a:spcBef>
                        <a:spcAft>
                          <a:spcPts val="0"/>
                        </a:spcAft>
                        <a:buNone/>
                      </a:pPr>
                      <a:r>
                        <a:rPr b="1" lang="en-US" sz="1800"/>
                        <a:t>IIIT Allahabad, India</a:t>
                      </a:r>
                      <a:endParaRPr b="1"/>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2400"/>
                        <a:t>Supervised By:</a:t>
                      </a:r>
                      <a:endParaRPr/>
                    </a:p>
                    <a:p>
                      <a:pPr indent="0" lvl="0" marL="0" marR="0" rtl="0" algn="r">
                        <a:spcBef>
                          <a:spcPts val="0"/>
                        </a:spcBef>
                        <a:spcAft>
                          <a:spcPts val="0"/>
                        </a:spcAft>
                        <a:buNone/>
                      </a:pPr>
                      <a:r>
                        <a:t/>
                      </a:r>
                      <a:endParaRPr sz="1800"/>
                    </a:p>
                    <a:p>
                      <a:pPr indent="0" lvl="0" marL="0" marR="0" rtl="0" algn="r">
                        <a:spcBef>
                          <a:spcPts val="0"/>
                        </a:spcBef>
                        <a:spcAft>
                          <a:spcPts val="0"/>
                        </a:spcAft>
                        <a:buNone/>
                      </a:pPr>
                      <a:r>
                        <a:rPr lang="en-US" sz="1800"/>
                        <a:t>Dr. Naveen Saini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6"/>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lang="en-US"/>
              <a:t>Talk Flow</a:t>
            </a:r>
            <a:endParaRPr/>
          </a:p>
        </p:txBody>
      </p:sp>
      <p:sp>
        <p:nvSpPr>
          <p:cNvPr id="46" name="Google Shape;46;p6"/>
          <p:cNvSpPr/>
          <p:nvPr/>
        </p:nvSpPr>
        <p:spPr>
          <a:xfrm>
            <a:off x="336000" y="713082"/>
            <a:ext cx="6096000" cy="3892732"/>
          </a:xfrm>
          <a:prstGeom prst="rect">
            <a:avLst/>
          </a:prstGeom>
          <a:noFill/>
          <a:ln>
            <a:noFill/>
          </a:ln>
        </p:spPr>
        <p:txBody>
          <a:bodyPr anchorCtr="0" anchor="t" bIns="45700" lIns="91425" spcFirstLastPara="1" rIns="91425" wrap="square" tIns="45700">
            <a:noAutofit/>
          </a:bodyPr>
          <a:lstStyle/>
          <a:p>
            <a:pPr indent="-285750" lvl="0" marL="285750" marR="0" rtl="0" algn="l">
              <a:lnSpc>
                <a:spcPct val="200000"/>
              </a:lnSpc>
              <a:spcBef>
                <a:spcPts val="0"/>
              </a:spcBef>
              <a:spcAft>
                <a:spcPts val="0"/>
              </a:spcAft>
              <a:buClr>
                <a:schemeClr val="dk1"/>
              </a:buClr>
              <a:buSzPts val="1800"/>
              <a:buFont typeface="Calibri"/>
              <a:buChar char="•"/>
            </a:pPr>
            <a:r>
              <a:rPr i="0" lang="en-US" sz="1800" u="none" cap="none" strike="noStrike">
                <a:solidFill>
                  <a:schemeClr val="dk1"/>
                </a:solidFill>
                <a:latin typeface="Calibri"/>
                <a:ea typeface="Calibri"/>
                <a:cs typeface="Calibri"/>
                <a:sym typeface="Calibri"/>
              </a:rPr>
              <a:t>Objective/Introduction </a:t>
            </a:r>
            <a:endParaRPr sz="1800">
              <a:latin typeface="Calibri"/>
              <a:ea typeface="Calibri"/>
              <a:cs typeface="Calibri"/>
              <a:sym typeface="Calibri"/>
            </a:endParaRPr>
          </a:p>
          <a:p>
            <a:pPr indent="-285750" lvl="0" marL="285750" marR="0" rtl="0" algn="l">
              <a:lnSpc>
                <a:spcPct val="200000"/>
              </a:lnSpc>
              <a:spcBef>
                <a:spcPts val="0"/>
              </a:spcBef>
              <a:spcAft>
                <a:spcPts val="0"/>
              </a:spcAft>
              <a:buSzPts val="1800"/>
              <a:buFont typeface="Calibri"/>
              <a:buChar char="•"/>
            </a:pPr>
            <a:r>
              <a:rPr lang="en-US" sz="1800">
                <a:latin typeface="Calibri"/>
                <a:ea typeface="Calibri"/>
                <a:cs typeface="Calibri"/>
                <a:sym typeface="Calibri"/>
              </a:rPr>
              <a:t>Related Work</a:t>
            </a:r>
            <a:endParaRPr/>
          </a:p>
          <a:p>
            <a:pPr indent="-285750" lvl="0" marL="285750" marR="0" rtl="0" algn="l">
              <a:lnSpc>
                <a:spcPct val="2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Methodology </a:t>
            </a:r>
            <a:endParaRPr/>
          </a:p>
          <a:p>
            <a:pPr indent="-285750" lvl="0" marL="285750" marR="0" rtl="0" algn="l">
              <a:lnSpc>
                <a:spcPct val="2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Outcomes </a:t>
            </a:r>
            <a:endParaRPr/>
          </a:p>
          <a:p>
            <a:pPr indent="-285750" lvl="0" marL="285750" marR="0" rtl="0" algn="l">
              <a:lnSpc>
                <a:spcPct val="2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Application</a:t>
            </a:r>
            <a:endParaRPr/>
          </a:p>
          <a:p>
            <a:pPr indent="-285750" lvl="0" marL="285750" marR="0" rtl="0" algn="l">
              <a:lnSpc>
                <a:spcPct val="2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Appendix </a:t>
            </a:r>
            <a:endParaRPr/>
          </a:p>
        </p:txBody>
      </p:sp>
      <p:sp>
        <p:nvSpPr>
          <p:cNvPr id="47" name="Google Shape;47;p6"/>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7"/>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lang="en-US"/>
              <a:t>Objective/Introduction</a:t>
            </a:r>
            <a:endParaRPr/>
          </a:p>
        </p:txBody>
      </p:sp>
      <p:sp>
        <p:nvSpPr>
          <p:cNvPr id="53" name="Google Shape;53;p7"/>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4" name="Google Shape;54;p7"/>
          <p:cNvSpPr txBox="1"/>
          <p:nvPr/>
        </p:nvSpPr>
        <p:spPr>
          <a:xfrm>
            <a:off x="474875" y="1459750"/>
            <a:ext cx="11160000" cy="3996600"/>
          </a:xfrm>
          <a:prstGeom prst="rect">
            <a:avLst/>
          </a:prstGeom>
          <a:noFill/>
          <a:ln>
            <a:noFill/>
          </a:ln>
        </p:spPr>
        <p:txBody>
          <a:bodyPr anchorCtr="0" anchor="t" bIns="45700" lIns="91425" spcFirstLastPara="1" rIns="91425" wrap="square" tIns="45700">
            <a:spAutoFit/>
          </a:bodyPr>
          <a:lstStyle/>
          <a:p>
            <a:pPr indent="-342900" lvl="0" marL="457200" rtl="0" algn="l">
              <a:lnSpc>
                <a:spcPct val="115000"/>
              </a:lnSpc>
              <a:spcBef>
                <a:spcPts val="0"/>
              </a:spcBef>
              <a:spcAft>
                <a:spcPts val="0"/>
              </a:spcAft>
              <a:buClr>
                <a:schemeClr val="dk1"/>
              </a:buClr>
              <a:buSzPts val="1800"/>
              <a:buChar char="●"/>
            </a:pPr>
            <a:r>
              <a:rPr lang="en-US" sz="1800">
                <a:solidFill>
                  <a:schemeClr val="dk1"/>
                </a:solidFill>
              </a:rPr>
              <a:t>Sarcasm detection has emerged as a critical task in natural language processing, especially in the context of news headlines where subtle nuances can significantly impact interpretation.</a:t>
            </a:r>
            <a:endParaRPr sz="1800">
              <a:solidFill>
                <a:schemeClr val="dk1"/>
              </a:solidFill>
            </a:endParaRPr>
          </a:p>
          <a:p>
            <a:pPr indent="0" lvl="0" marL="457200" rtl="0" algn="l">
              <a:lnSpc>
                <a:spcPct val="115000"/>
              </a:lnSpc>
              <a:spcBef>
                <a:spcPts val="0"/>
              </a:spcBef>
              <a:spcAft>
                <a:spcPts val="0"/>
              </a:spcAft>
              <a:buNone/>
            </a:pPr>
            <a:r>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We present a meticulously curated dataset comprising of sarcastic and non-sarcastic news headlines.</a:t>
            </a:r>
            <a:endParaRPr sz="1800">
              <a:solidFill>
                <a:schemeClr val="dk1"/>
              </a:solidFill>
            </a:endParaRPr>
          </a:p>
          <a:p>
            <a:pPr indent="0" lvl="0" marL="457200" rtl="0" algn="l">
              <a:lnSpc>
                <a:spcPct val="115000"/>
              </a:lnSpc>
              <a:spcBef>
                <a:spcPts val="0"/>
              </a:spcBef>
              <a:spcAft>
                <a:spcPts val="0"/>
              </a:spcAft>
              <a:buNone/>
            </a:pPr>
            <a:r>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We conduct experiments employing state-of-the-art models including DistilBERT, BERT, GPT-2, SetFit and RoBERTa each renowned for their prowess in natural language understanding tasks.</a:t>
            </a:r>
            <a:endParaRPr sz="1800">
              <a:solidFill>
                <a:schemeClr val="dk1"/>
              </a:solidFill>
            </a:endParaRPr>
          </a:p>
          <a:p>
            <a:pPr indent="0" lvl="0" marL="457200" rtl="0" algn="l">
              <a:lnSpc>
                <a:spcPct val="115000"/>
              </a:lnSpc>
              <a:spcBef>
                <a:spcPts val="0"/>
              </a:spcBef>
              <a:spcAft>
                <a:spcPts val="0"/>
              </a:spcAft>
              <a:buNone/>
            </a:pPr>
            <a:r>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By shedding light on the comparative effectiveness of deep learning models in detecting sarcasm within news headlines, our study paves the way for more robust and accurate sarcasm detection systems in real-world applications.</a:t>
            </a:r>
            <a:endParaRPr sz="1800">
              <a:solidFill>
                <a:schemeClr val="dk1"/>
              </a:solidFill>
            </a:endParaRPr>
          </a:p>
          <a:p>
            <a:pPr indent="0" lvl="0" marL="0" rtl="0" algn="l">
              <a:lnSpc>
                <a:spcPct val="115000"/>
              </a:lnSpc>
              <a:spcBef>
                <a:spcPts val="0"/>
              </a:spcBef>
              <a:spcAft>
                <a:spcPts val="0"/>
              </a:spcAft>
              <a:buSzPts val="1100"/>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8"/>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lang="en-US"/>
              <a:t>Related Works</a:t>
            </a:r>
            <a:endParaRPr/>
          </a:p>
        </p:txBody>
      </p:sp>
      <p:sp>
        <p:nvSpPr>
          <p:cNvPr id="60" name="Google Shape;60;p8"/>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1" name="Google Shape;61;p8"/>
          <p:cNvSpPr txBox="1"/>
          <p:nvPr/>
        </p:nvSpPr>
        <p:spPr>
          <a:xfrm>
            <a:off x="442025" y="884075"/>
            <a:ext cx="11414100" cy="5689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Aditya Joshi &amp; Pushpak Bhattacharyya (2017). </a:t>
            </a:r>
            <a:r>
              <a:rPr lang="en-US" sz="1600" u="sng">
                <a:solidFill>
                  <a:schemeClr val="hlink"/>
                </a:solidFill>
                <a:latin typeface="Calibri"/>
                <a:ea typeface="Calibri"/>
                <a:cs typeface="Calibri"/>
                <a:sym typeface="Calibri"/>
                <a:hlinkClick r:id="rId3"/>
              </a:rPr>
              <a:t>Automatic Sarcasm Detection: A Survey</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Jacob Devlin &amp; Ming-Wei Chang (2018). </a:t>
            </a:r>
            <a:r>
              <a:rPr lang="en-US" sz="1600" u="sng">
                <a:solidFill>
                  <a:schemeClr val="hlink"/>
                </a:solidFill>
                <a:latin typeface="Calibri"/>
                <a:ea typeface="Calibri"/>
                <a:cs typeface="Calibri"/>
                <a:sym typeface="Calibri"/>
                <a:hlinkClick r:id="rId4"/>
              </a:rPr>
              <a:t>BERT: Pre-training of Deep Bidirectional Transformers for Language Understanding</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Yinhan Liu &amp; Myle Ott (2019). </a:t>
            </a:r>
            <a:r>
              <a:rPr lang="en-US" sz="1600" u="sng">
                <a:solidFill>
                  <a:schemeClr val="hlink"/>
                </a:solidFill>
                <a:latin typeface="Calibri"/>
                <a:ea typeface="Calibri"/>
                <a:cs typeface="Calibri"/>
                <a:sym typeface="Calibri"/>
                <a:hlinkClick r:id="rId5"/>
              </a:rPr>
              <a:t>RoBERTa: A Robustly Optimized BERT Pretraining Approach</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Alec Radford &amp; Jeffrey Wu (2019). </a:t>
            </a:r>
            <a:r>
              <a:rPr lang="en-US" sz="1600" u="sng">
                <a:solidFill>
                  <a:schemeClr val="hlink"/>
                </a:solidFill>
                <a:latin typeface="Calibri"/>
                <a:ea typeface="Calibri"/>
                <a:cs typeface="Calibri"/>
                <a:sym typeface="Calibri"/>
                <a:hlinkClick r:id="rId6"/>
              </a:rPr>
              <a:t>Language Models are Unsupervised Multitask Learners</a:t>
            </a:r>
            <a:r>
              <a:rPr lang="en-US" sz="1600">
                <a:solidFill>
                  <a:schemeClr val="dk1"/>
                </a:solidFill>
                <a:latin typeface="Calibri"/>
                <a:ea typeface="Calibri"/>
                <a:cs typeface="Calibri"/>
                <a:sym typeface="Calibri"/>
              </a:rPr>
              <a:t> (GPT2)</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Rishabh Misra &amp; Prahal Arora (2022). </a:t>
            </a:r>
            <a:r>
              <a:rPr lang="en-US" sz="1600" u="sng">
                <a:solidFill>
                  <a:schemeClr val="hlink"/>
                </a:solidFill>
                <a:latin typeface="Calibri"/>
                <a:ea typeface="Calibri"/>
                <a:cs typeface="Calibri"/>
                <a:sym typeface="Calibri"/>
                <a:hlinkClick r:id="rId7"/>
              </a:rPr>
              <a:t>Sarcasm Detection using Hybrid Neural Network</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Victor SANH &amp; Lysandre DEBUT (2020). </a:t>
            </a:r>
            <a:r>
              <a:rPr lang="en-US" sz="1600" u="sng">
                <a:solidFill>
                  <a:schemeClr val="hlink"/>
                </a:solidFill>
                <a:latin typeface="Calibri"/>
                <a:ea typeface="Calibri"/>
                <a:cs typeface="Calibri"/>
                <a:sym typeface="Calibri"/>
                <a:hlinkClick r:id="rId8"/>
              </a:rPr>
              <a:t>DistilBERT, a distilled version of BERT: smaller, faster, cheaper and lighter</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Lewis Tunstall &amp; Nils Reimers (2022). </a:t>
            </a:r>
            <a:r>
              <a:rPr lang="en-US" sz="1600" u="sng">
                <a:solidFill>
                  <a:schemeClr val="hlink"/>
                </a:solidFill>
                <a:latin typeface="Calibri"/>
                <a:ea typeface="Calibri"/>
                <a:cs typeface="Calibri"/>
                <a:sym typeface="Calibri"/>
                <a:hlinkClick r:id="rId9"/>
              </a:rPr>
              <a:t>Efficient Few-Shot Learning Without Prompts</a:t>
            </a:r>
            <a:r>
              <a:rPr lang="en-US" sz="1600">
                <a:solidFill>
                  <a:schemeClr val="dk1"/>
                </a:solidFill>
                <a:latin typeface="Calibri"/>
                <a:ea typeface="Calibri"/>
                <a:cs typeface="Calibri"/>
                <a:sym typeface="Calibri"/>
              </a:rPr>
              <a:t> (SetFit)</a:t>
            </a:r>
            <a:endParaRPr sz="16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9"/>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lang="en-US"/>
              <a:t>Methodology (Proposed)</a:t>
            </a:r>
            <a:endParaRPr/>
          </a:p>
        </p:txBody>
      </p:sp>
      <p:sp>
        <p:nvSpPr>
          <p:cNvPr id="67" name="Google Shape;67;p9"/>
          <p:cNvSpPr/>
          <p:nvPr/>
        </p:nvSpPr>
        <p:spPr>
          <a:xfrm>
            <a:off x="336000" y="713082"/>
            <a:ext cx="6096000" cy="3892732"/>
          </a:xfrm>
          <a:prstGeom prst="rect">
            <a:avLst/>
          </a:prstGeom>
          <a:noFill/>
          <a:ln>
            <a:noFill/>
          </a:ln>
        </p:spPr>
        <p:txBody>
          <a:bodyPr anchorCtr="0" anchor="t" bIns="45700" lIns="91425" spcFirstLastPara="1" rIns="91425" wrap="square" tIns="45700">
            <a:noAutofit/>
          </a:bodyPr>
          <a:lstStyle/>
          <a:p>
            <a:pPr indent="0" lvl="0" marL="0" marR="0" rtl="0" algn="l">
              <a:lnSpc>
                <a:spcPct val="200000"/>
              </a:lnSpc>
              <a:spcBef>
                <a:spcPts val="0"/>
              </a:spcBef>
              <a:spcAft>
                <a:spcPts val="0"/>
              </a:spcAft>
              <a:buNone/>
            </a:pPr>
            <a:r>
              <a:rPr lang="en-US" sz="1800">
                <a:solidFill>
                  <a:schemeClr val="dk1"/>
                </a:solidFill>
                <a:latin typeface="Calibri"/>
                <a:ea typeface="Calibri"/>
                <a:cs typeface="Calibri"/>
                <a:sym typeface="Calibri"/>
              </a:rPr>
              <a:t>Data Collection</a:t>
            </a:r>
            <a:endParaRPr/>
          </a:p>
          <a:p>
            <a:pPr indent="0" lvl="0" marL="0" marR="0" rtl="0" algn="l">
              <a:lnSpc>
                <a:spcPct val="200000"/>
              </a:lnSpc>
              <a:spcBef>
                <a:spcPts val="0"/>
              </a:spcBef>
              <a:spcAft>
                <a:spcPts val="0"/>
              </a:spcAft>
              <a:buNone/>
            </a:pPr>
            <a:r>
              <a:rPr lang="en-US" sz="1800">
                <a:solidFill>
                  <a:schemeClr val="dk1"/>
                </a:solidFill>
                <a:latin typeface="Calibri"/>
                <a:ea typeface="Calibri"/>
                <a:cs typeface="Calibri"/>
                <a:sym typeface="Calibri"/>
              </a:rPr>
              <a:t>Model Selection</a:t>
            </a:r>
            <a:endParaRPr/>
          </a:p>
          <a:p>
            <a:pPr indent="0" lvl="0" marL="0" marR="0" rtl="0" algn="l">
              <a:lnSpc>
                <a:spcPct val="200000"/>
              </a:lnSpc>
              <a:spcBef>
                <a:spcPts val="0"/>
              </a:spcBef>
              <a:spcAft>
                <a:spcPts val="0"/>
              </a:spcAft>
              <a:buNone/>
            </a:pPr>
            <a:r>
              <a:rPr lang="en-US" sz="1800">
                <a:solidFill>
                  <a:schemeClr val="dk1"/>
                </a:solidFill>
                <a:latin typeface="Calibri"/>
                <a:ea typeface="Calibri"/>
                <a:cs typeface="Calibri"/>
                <a:sym typeface="Calibri"/>
              </a:rPr>
              <a:t>Model Training</a:t>
            </a:r>
            <a:endParaRPr/>
          </a:p>
          <a:p>
            <a:pPr indent="0" lvl="0" marL="0" marR="0" rtl="0" algn="l">
              <a:lnSpc>
                <a:spcPct val="200000"/>
              </a:lnSpc>
              <a:spcBef>
                <a:spcPts val="0"/>
              </a:spcBef>
              <a:spcAft>
                <a:spcPts val="0"/>
              </a:spcAft>
              <a:buNone/>
            </a:pPr>
            <a:r>
              <a:rPr lang="en-US" sz="1800">
                <a:solidFill>
                  <a:schemeClr val="dk1"/>
                </a:solidFill>
                <a:latin typeface="Calibri"/>
                <a:ea typeface="Calibri"/>
                <a:cs typeface="Calibri"/>
                <a:sym typeface="Calibri"/>
              </a:rPr>
              <a:t>Experimental Setup</a:t>
            </a:r>
            <a:endParaRPr/>
          </a:p>
          <a:p>
            <a:pPr indent="0" lvl="0" marL="0" marR="0" rtl="0" algn="l">
              <a:lnSpc>
                <a:spcPct val="200000"/>
              </a:lnSpc>
              <a:spcBef>
                <a:spcPts val="0"/>
              </a:spcBef>
              <a:spcAft>
                <a:spcPts val="0"/>
              </a:spcAft>
              <a:buNone/>
            </a:pPr>
            <a:r>
              <a:rPr lang="en-US" sz="1800">
                <a:solidFill>
                  <a:schemeClr val="dk1"/>
                </a:solidFill>
                <a:latin typeface="Calibri"/>
                <a:ea typeface="Calibri"/>
                <a:cs typeface="Calibri"/>
                <a:sym typeface="Calibri"/>
              </a:rPr>
              <a:t>Results Analysis</a:t>
            </a:r>
            <a:endParaRPr/>
          </a:p>
          <a:p>
            <a:pPr indent="0" lvl="0" marL="0" marR="0" rtl="0" algn="l">
              <a:lnSpc>
                <a:spcPct val="200000"/>
              </a:lnSpc>
              <a:spcBef>
                <a:spcPts val="0"/>
              </a:spcBef>
              <a:spcAft>
                <a:spcPts val="0"/>
              </a:spcAft>
              <a:buNone/>
            </a:pPr>
            <a:r>
              <a:rPr lang="en-US" sz="1800">
                <a:solidFill>
                  <a:schemeClr val="dk1"/>
                </a:solidFill>
                <a:latin typeface="Calibri"/>
                <a:ea typeface="Calibri"/>
                <a:cs typeface="Calibri"/>
                <a:sym typeface="Calibri"/>
              </a:rPr>
              <a:t>Discussion</a:t>
            </a:r>
            <a:endParaRPr/>
          </a:p>
        </p:txBody>
      </p:sp>
      <p:sp>
        <p:nvSpPr>
          <p:cNvPr id="68" name="Google Shape;68;p9"/>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0"/>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4" name="Google Shape;74;p10"/>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lang="en-US"/>
              <a:t>Data Set Collection</a:t>
            </a:r>
            <a:endParaRPr/>
          </a:p>
        </p:txBody>
      </p:sp>
      <p:sp>
        <p:nvSpPr>
          <p:cNvPr id="75" name="Google Shape;75;p10"/>
          <p:cNvSpPr txBox="1"/>
          <p:nvPr/>
        </p:nvSpPr>
        <p:spPr>
          <a:xfrm>
            <a:off x="606000" y="1088999"/>
            <a:ext cx="11160000" cy="591060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We created this high-quality datasets featuring sarcastic news headlines within an Indian context, this database aims to bridge the gap by providing a structured and reliable dataset. </a:t>
            </a:r>
            <a:endParaRPr sz="1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Leveraging two primary sources renowned for their satirical news headlines in India, namely The Fauxy and The Unreal Times</a:t>
            </a:r>
            <a:endParaRPr sz="1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This dataset has total 2128 headlines from The Fauxy website and 1919 headlines from archived snapshots of The Unreal Times on the Wayback Machine.</a:t>
            </a:r>
            <a:endParaRPr sz="1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To balance </a:t>
            </a:r>
            <a:r>
              <a:rPr lang="en-US" sz="1800">
                <a:solidFill>
                  <a:schemeClr val="dk1"/>
                </a:solidFill>
                <a:latin typeface="Calibri"/>
                <a:ea typeface="Calibri"/>
                <a:cs typeface="Calibri"/>
                <a:sym typeface="Calibri"/>
              </a:rPr>
              <a:t>the</a:t>
            </a:r>
            <a:r>
              <a:rPr lang="en-US" sz="1800">
                <a:solidFill>
                  <a:schemeClr val="dk1"/>
                </a:solidFill>
                <a:latin typeface="Calibri"/>
                <a:ea typeface="Calibri"/>
                <a:cs typeface="Calibri"/>
                <a:sym typeface="Calibri"/>
              </a:rPr>
              <a:t> sarcastic headlines we added equal number of news headlines written in formal sense.</a:t>
            </a:r>
            <a:endParaRPr sz="1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We put the dataset on kaggle for other researchers to use.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u="sng">
                <a:solidFill>
                  <a:schemeClr val="hlink"/>
                </a:solidFill>
                <a:latin typeface="Calibri"/>
                <a:ea typeface="Calibri"/>
                <a:cs typeface="Calibri"/>
                <a:sym typeface="Calibri"/>
                <a:hlinkClick r:id="rId3"/>
              </a:rPr>
              <a:t>Kaggle Dataset Link</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1"/>
          <p:cNvSpPr txBox="1"/>
          <p:nvPr>
            <p:ph idx="12" type="sldNum"/>
          </p:nvPr>
        </p:nvSpPr>
        <p:spPr>
          <a:xfrm>
            <a:off x="9517800" y="657387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1" name="Google Shape;81;p11"/>
          <p:cNvSpPr txBox="1"/>
          <p:nvPr>
            <p:ph type="title"/>
          </p:nvPr>
        </p:nvSpPr>
        <p:spPr>
          <a:xfrm>
            <a:off x="336000" y="99000"/>
            <a:ext cx="11520000" cy="5355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lang="en-US"/>
              <a:t>Data Set Collection</a:t>
            </a:r>
            <a:endParaRPr/>
          </a:p>
        </p:txBody>
      </p:sp>
      <p:sp>
        <p:nvSpPr>
          <p:cNvPr id="82" name="Google Shape;82;p11"/>
          <p:cNvSpPr txBox="1"/>
          <p:nvPr/>
        </p:nvSpPr>
        <p:spPr>
          <a:xfrm>
            <a:off x="400925" y="-649200"/>
            <a:ext cx="48522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Dataset</a:t>
            </a:r>
            <a:r>
              <a:rPr lang="en-US" sz="1800">
                <a:solidFill>
                  <a:schemeClr val="dk1"/>
                </a:solidFill>
                <a:latin typeface="Calibri"/>
                <a:ea typeface="Calibri"/>
                <a:cs typeface="Calibri"/>
                <a:sym typeface="Calibri"/>
              </a:rPr>
              <a:t> Sample</a:t>
            </a:r>
            <a:endParaRPr sz="1800">
              <a:solidFill>
                <a:schemeClr val="dk1"/>
              </a:solidFill>
              <a:latin typeface="Calibri"/>
              <a:ea typeface="Calibri"/>
              <a:cs typeface="Calibri"/>
              <a:sym typeface="Calibri"/>
            </a:endParaRPr>
          </a:p>
        </p:txBody>
      </p:sp>
      <p:sp>
        <p:nvSpPr>
          <p:cNvPr id="83" name="Google Shape;83;p11"/>
          <p:cNvSpPr txBox="1"/>
          <p:nvPr/>
        </p:nvSpPr>
        <p:spPr>
          <a:xfrm>
            <a:off x="2837250" y="2282150"/>
            <a:ext cx="5921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graphicFrame>
        <p:nvGraphicFramePr>
          <p:cNvPr id="84" name="Google Shape;84;p11"/>
          <p:cNvGraphicFramePr/>
          <p:nvPr/>
        </p:nvGraphicFramePr>
        <p:xfrm>
          <a:off x="2465375" y="1704675"/>
          <a:ext cx="3000000" cy="3000000"/>
        </p:xfrm>
        <a:graphic>
          <a:graphicData uri="http://schemas.openxmlformats.org/drawingml/2006/table">
            <a:tbl>
              <a:tblPr>
                <a:noFill/>
                <a:tableStyleId>{6D2CFA2D-E71C-4A79-A15F-722EF2C0059E}</a:tableStyleId>
              </a:tblPr>
              <a:tblGrid>
                <a:gridCol w="3799375"/>
                <a:gridCol w="2121725"/>
              </a:tblGrid>
              <a:tr h="431950">
                <a:tc>
                  <a:txBody>
                    <a:bodyPr/>
                    <a:lstStyle/>
                    <a:p>
                      <a:pPr indent="0" lvl="0" marL="0" rtl="0" algn="ctr">
                        <a:spcBef>
                          <a:spcPts val="0"/>
                        </a:spcBef>
                        <a:spcAft>
                          <a:spcPts val="0"/>
                        </a:spcAft>
                        <a:buNone/>
                      </a:pPr>
                      <a:r>
                        <a:rPr b="1" lang="en-US" sz="1100"/>
                        <a:t>Text</a:t>
                      </a:r>
                      <a:endParaRPr b="1" sz="1100"/>
                    </a:p>
                  </a:txBody>
                  <a:tcPr marT="63500" marB="63500" marR="63500" marL="63500"/>
                </a:tc>
                <a:tc>
                  <a:txBody>
                    <a:bodyPr/>
                    <a:lstStyle/>
                    <a:p>
                      <a:pPr indent="0" lvl="0" marL="0" rtl="0" algn="ctr">
                        <a:spcBef>
                          <a:spcPts val="0"/>
                        </a:spcBef>
                        <a:spcAft>
                          <a:spcPts val="0"/>
                        </a:spcAft>
                        <a:buNone/>
                      </a:pPr>
                      <a:r>
                        <a:rPr b="1" lang="en-US" sz="1100"/>
                        <a:t>Is sarcastic?</a:t>
                      </a:r>
                      <a:endParaRPr b="1" sz="1100"/>
                    </a:p>
                  </a:txBody>
                  <a:tcPr marT="63500" marB="63500" marR="63500" marL="63500"/>
                </a:tc>
              </a:tr>
              <a:tr h="582975">
                <a:tc>
                  <a:txBody>
                    <a:bodyPr/>
                    <a:lstStyle/>
                    <a:p>
                      <a:pPr indent="0" lvl="0" marL="0" rtl="0" algn="l">
                        <a:spcBef>
                          <a:spcPts val="0"/>
                        </a:spcBef>
                        <a:spcAft>
                          <a:spcPts val="0"/>
                        </a:spcAft>
                        <a:buNone/>
                      </a:pPr>
                      <a:r>
                        <a:rPr lang="en-US" sz="1100"/>
                        <a:t>Diesel costlier by 3 as Bihar government withdraws VAT rebate.</a:t>
                      </a:r>
                      <a:endParaRPr sz="1100"/>
                    </a:p>
                  </a:txBody>
                  <a:tcPr marT="63500" marB="63500" marR="63500" marL="63500"/>
                </a:tc>
                <a:tc>
                  <a:txBody>
                    <a:bodyPr/>
                    <a:lstStyle/>
                    <a:p>
                      <a:pPr indent="0" lvl="0" marL="0" rtl="0" algn="ctr">
                        <a:spcBef>
                          <a:spcPts val="0"/>
                        </a:spcBef>
                        <a:spcAft>
                          <a:spcPts val="0"/>
                        </a:spcAft>
                        <a:buNone/>
                      </a:pPr>
                      <a:r>
                        <a:rPr lang="en-US" sz="1100"/>
                        <a:t>0</a:t>
                      </a:r>
                      <a:endParaRPr sz="1100"/>
                    </a:p>
                  </a:txBody>
                  <a:tcPr marT="63500" marB="63500" marR="63500" marL="63500"/>
                </a:tc>
              </a:tr>
              <a:tr h="795700">
                <a:tc>
                  <a:txBody>
                    <a:bodyPr/>
                    <a:lstStyle/>
                    <a:p>
                      <a:pPr indent="0" lvl="0" marL="0" rtl="0" algn="l">
                        <a:spcBef>
                          <a:spcPts val="0"/>
                        </a:spcBef>
                        <a:spcAft>
                          <a:spcPts val="0"/>
                        </a:spcAft>
                        <a:buNone/>
                      </a:pPr>
                      <a:r>
                        <a:rPr lang="en-US" sz="1100"/>
                        <a:t>Yogendra Yadav Beaten Up At Immigration For Applying ‘Protester Visa’ To Travel To Canada.</a:t>
                      </a:r>
                      <a:endParaRPr sz="1100"/>
                    </a:p>
                  </a:txBody>
                  <a:tcPr marT="63500" marB="63500" marR="63500" marL="63500"/>
                </a:tc>
                <a:tc>
                  <a:txBody>
                    <a:bodyPr/>
                    <a:lstStyle/>
                    <a:p>
                      <a:pPr indent="0" lvl="0" marL="0" rtl="0" algn="ctr">
                        <a:spcBef>
                          <a:spcPts val="0"/>
                        </a:spcBef>
                        <a:spcAft>
                          <a:spcPts val="0"/>
                        </a:spcAft>
                        <a:buNone/>
                      </a:pPr>
                      <a:r>
                        <a:rPr lang="en-US" sz="1100"/>
                        <a:t>1</a:t>
                      </a:r>
                      <a:endParaRPr sz="1100"/>
                    </a:p>
                  </a:txBody>
                  <a:tcPr marT="63500" marB="63500" marR="63500" marL="63500"/>
                </a:tc>
              </a:tr>
              <a:tr h="582975">
                <a:tc>
                  <a:txBody>
                    <a:bodyPr/>
                    <a:lstStyle/>
                    <a:p>
                      <a:pPr indent="0" lvl="0" marL="0" rtl="0" algn="l">
                        <a:spcBef>
                          <a:spcPts val="0"/>
                        </a:spcBef>
                        <a:spcAft>
                          <a:spcPts val="0"/>
                        </a:spcAft>
                        <a:buNone/>
                      </a:pPr>
                      <a:r>
                        <a:rPr lang="en-US" sz="1100"/>
                        <a:t>Salman Khan's lawyer: No evidence produced that actor drove the car</a:t>
                      </a:r>
                      <a:endParaRPr sz="1100"/>
                    </a:p>
                  </a:txBody>
                  <a:tcPr marT="63500" marB="63500" marR="63500" marL="63500"/>
                </a:tc>
                <a:tc>
                  <a:txBody>
                    <a:bodyPr/>
                    <a:lstStyle/>
                    <a:p>
                      <a:pPr indent="0" lvl="0" marL="0" rtl="0" algn="ctr">
                        <a:spcBef>
                          <a:spcPts val="0"/>
                        </a:spcBef>
                        <a:spcAft>
                          <a:spcPts val="0"/>
                        </a:spcAft>
                        <a:buNone/>
                      </a:pPr>
                      <a:r>
                        <a:rPr lang="en-US" sz="1100"/>
                        <a:t>0</a:t>
                      </a:r>
                      <a:endParaRPr sz="1100"/>
                    </a:p>
                  </a:txBody>
                  <a:tcPr marT="63500" marB="63500" marR="63500" marL="63500"/>
                </a:tc>
              </a:tr>
              <a:tr h="582975">
                <a:tc>
                  <a:txBody>
                    <a:bodyPr/>
                    <a:lstStyle/>
                    <a:p>
                      <a:pPr indent="0" lvl="0" marL="0" rtl="0" algn="l">
                        <a:spcBef>
                          <a:spcPts val="0"/>
                        </a:spcBef>
                        <a:spcAft>
                          <a:spcPts val="0"/>
                        </a:spcAft>
                        <a:buNone/>
                      </a:pPr>
                      <a:r>
                        <a:rPr lang="en-US" sz="1100"/>
                        <a:t>Arvind Kejriwal To Inaugurate Covid 3rd Wave.</a:t>
                      </a:r>
                      <a:endParaRPr sz="1100"/>
                    </a:p>
                  </a:txBody>
                  <a:tcPr marT="63500" marB="63500" marR="63500" marL="63500"/>
                </a:tc>
                <a:tc>
                  <a:txBody>
                    <a:bodyPr/>
                    <a:lstStyle/>
                    <a:p>
                      <a:pPr indent="0" lvl="0" marL="0" rtl="0" algn="ctr">
                        <a:spcBef>
                          <a:spcPts val="0"/>
                        </a:spcBef>
                        <a:spcAft>
                          <a:spcPts val="0"/>
                        </a:spcAft>
                        <a:buNone/>
                      </a:pPr>
                      <a:r>
                        <a:rPr lang="en-US" sz="1100"/>
                        <a:t>1</a:t>
                      </a:r>
                      <a:endParaRPr sz="1100"/>
                    </a:p>
                  </a:txBody>
                  <a:tcPr marT="63500" marB="63500" marR="63500" marL="63500"/>
                </a:tc>
              </a:tr>
            </a:tbl>
          </a:graphicData>
        </a:graphic>
      </p:graphicFrame>
      <p:sp>
        <p:nvSpPr>
          <p:cNvPr id="85" name="Google Shape;85;p11"/>
          <p:cNvSpPr txBox="1"/>
          <p:nvPr/>
        </p:nvSpPr>
        <p:spPr>
          <a:xfrm>
            <a:off x="2617775" y="2484150"/>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2"/>
          <p:cNvSpPr txBox="1"/>
          <p:nvPr>
            <p:ph idx="12" type="sldNum"/>
          </p:nvPr>
        </p:nvSpPr>
        <p:spPr>
          <a:xfrm>
            <a:off x="9517800" y="657387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1" name="Google Shape;91;p12"/>
          <p:cNvSpPr txBox="1"/>
          <p:nvPr>
            <p:ph type="title"/>
          </p:nvPr>
        </p:nvSpPr>
        <p:spPr>
          <a:xfrm>
            <a:off x="336000" y="99000"/>
            <a:ext cx="11520000" cy="5355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lang="en-US"/>
              <a:t>Data Set Collection</a:t>
            </a:r>
            <a:endParaRPr/>
          </a:p>
        </p:txBody>
      </p:sp>
      <p:sp>
        <p:nvSpPr>
          <p:cNvPr id="92" name="Google Shape;92;p12"/>
          <p:cNvSpPr txBox="1"/>
          <p:nvPr/>
        </p:nvSpPr>
        <p:spPr>
          <a:xfrm>
            <a:off x="606000" y="1088999"/>
            <a:ext cx="1116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Most of the headlines length is around 60 - 80 characters length</a:t>
            </a:r>
            <a:endParaRPr sz="1800">
              <a:solidFill>
                <a:schemeClr val="dk1"/>
              </a:solidFill>
              <a:latin typeface="Calibri"/>
              <a:ea typeface="Calibri"/>
              <a:cs typeface="Calibri"/>
              <a:sym typeface="Calibri"/>
            </a:endParaRPr>
          </a:p>
        </p:txBody>
      </p:sp>
      <p:pic>
        <p:nvPicPr>
          <p:cNvPr id="93" name="Google Shape;93;p12"/>
          <p:cNvPicPr preferRelativeResize="0"/>
          <p:nvPr/>
        </p:nvPicPr>
        <p:blipFill>
          <a:blip r:embed="rId3">
            <a:alphaModFix/>
          </a:blip>
          <a:stretch>
            <a:fillRect/>
          </a:stretch>
        </p:blipFill>
        <p:spPr>
          <a:xfrm>
            <a:off x="2578475" y="1786900"/>
            <a:ext cx="5524500" cy="4333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3"/>
          <p:cNvSpPr txBox="1"/>
          <p:nvPr>
            <p:ph idx="12" type="sldNum"/>
          </p:nvPr>
        </p:nvSpPr>
        <p:spPr>
          <a:xfrm>
            <a:off x="9517800" y="657387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9" name="Google Shape;99;p13"/>
          <p:cNvSpPr txBox="1"/>
          <p:nvPr>
            <p:ph type="title"/>
          </p:nvPr>
        </p:nvSpPr>
        <p:spPr>
          <a:xfrm>
            <a:off x="336000" y="99000"/>
            <a:ext cx="11520000" cy="5355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lang="en-US"/>
              <a:t>Data Set Collection</a:t>
            </a:r>
            <a:endParaRPr/>
          </a:p>
        </p:txBody>
      </p:sp>
      <p:sp>
        <p:nvSpPr>
          <p:cNvPr id="100" name="Google Shape;100;p13"/>
          <p:cNvSpPr txBox="1"/>
          <p:nvPr/>
        </p:nvSpPr>
        <p:spPr>
          <a:xfrm>
            <a:off x="606000" y="1088999"/>
            <a:ext cx="1116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Word Cloud of the news headlines</a:t>
            </a:r>
            <a:endParaRPr sz="1800">
              <a:solidFill>
                <a:schemeClr val="dk1"/>
              </a:solidFill>
              <a:latin typeface="Calibri"/>
              <a:ea typeface="Calibri"/>
              <a:cs typeface="Calibri"/>
              <a:sym typeface="Calibri"/>
            </a:endParaRPr>
          </a:p>
        </p:txBody>
      </p:sp>
      <p:pic>
        <p:nvPicPr>
          <p:cNvPr id="101" name="Google Shape;101;p13"/>
          <p:cNvPicPr preferRelativeResize="0"/>
          <p:nvPr/>
        </p:nvPicPr>
        <p:blipFill>
          <a:blip r:embed="rId3">
            <a:alphaModFix/>
          </a:blip>
          <a:stretch>
            <a:fillRect/>
          </a:stretch>
        </p:blipFill>
        <p:spPr>
          <a:xfrm>
            <a:off x="442650" y="2025150"/>
            <a:ext cx="5603425" cy="3097575"/>
          </a:xfrm>
          <a:prstGeom prst="rect">
            <a:avLst/>
          </a:prstGeom>
          <a:noFill/>
          <a:ln>
            <a:noFill/>
          </a:ln>
        </p:spPr>
      </p:pic>
      <p:pic>
        <p:nvPicPr>
          <p:cNvPr id="102" name="Google Shape;102;p13"/>
          <p:cNvPicPr preferRelativeResize="0"/>
          <p:nvPr/>
        </p:nvPicPr>
        <p:blipFill>
          <a:blip r:embed="rId4">
            <a:alphaModFix/>
          </a:blip>
          <a:stretch>
            <a:fillRect/>
          </a:stretch>
        </p:blipFill>
        <p:spPr>
          <a:xfrm>
            <a:off x="6270750" y="2096525"/>
            <a:ext cx="5428675" cy="3026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4"/>
          <p:cNvSpPr txBox="1"/>
          <p:nvPr>
            <p:ph idx="4294967295" type="ctrTitle"/>
          </p:nvPr>
        </p:nvSpPr>
        <p:spPr>
          <a:xfrm>
            <a:off x="336000" y="1065675"/>
            <a:ext cx="7609200" cy="4974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6000"/>
              <a:t>MACHINE LEARNING MODELS USED </a:t>
            </a:r>
            <a:endParaRPr sz="6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15"/>
          <p:cNvPicPr preferRelativeResize="0"/>
          <p:nvPr/>
        </p:nvPicPr>
        <p:blipFill>
          <a:blip r:embed="rId3">
            <a:alphaModFix/>
          </a:blip>
          <a:stretch>
            <a:fillRect/>
          </a:stretch>
        </p:blipFill>
        <p:spPr>
          <a:xfrm>
            <a:off x="1918425" y="152400"/>
            <a:ext cx="8355147" cy="6553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16"/>
          <p:cNvPicPr preferRelativeResize="0"/>
          <p:nvPr/>
        </p:nvPicPr>
        <p:blipFill>
          <a:blip r:embed="rId3">
            <a:alphaModFix/>
          </a:blip>
          <a:stretch>
            <a:fillRect/>
          </a:stretch>
        </p:blipFill>
        <p:spPr>
          <a:xfrm>
            <a:off x="1195975" y="782975"/>
            <a:ext cx="8337874" cy="5038126"/>
          </a:xfrm>
          <a:prstGeom prst="rect">
            <a:avLst/>
          </a:prstGeom>
          <a:noFill/>
          <a:ln>
            <a:noFill/>
          </a:ln>
        </p:spPr>
      </p:pic>
      <p:sp>
        <p:nvSpPr>
          <p:cNvPr id="121" name="Google Shape;121;p16"/>
          <p:cNvSpPr txBox="1"/>
          <p:nvPr/>
        </p:nvSpPr>
        <p:spPr>
          <a:xfrm>
            <a:off x="1272125" y="5882775"/>
            <a:ext cx="894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hlink"/>
                </a:solidFill>
                <a:uFill>
                  <a:noFill/>
                </a:uFill>
                <a:latin typeface="Calibri"/>
                <a:ea typeface="Calibri"/>
                <a:cs typeface="Calibri"/>
                <a:sym typeface="Calibri"/>
                <a:hlinkClick r:id="rId4"/>
              </a:rPr>
              <a:t>image ref</a:t>
            </a:r>
            <a:endParaRPr sz="2800">
              <a:solidFill>
                <a:schemeClr val="dk1"/>
              </a:solidFill>
              <a:latin typeface="Calibri"/>
              <a:ea typeface="Calibri"/>
              <a:cs typeface="Calibri"/>
              <a:sym typeface="Calibri"/>
            </a:endParaRPr>
          </a:p>
        </p:txBody>
      </p:sp>
      <p:sp>
        <p:nvSpPr>
          <p:cNvPr id="122" name="Google Shape;122;p16"/>
          <p:cNvSpPr txBox="1"/>
          <p:nvPr/>
        </p:nvSpPr>
        <p:spPr>
          <a:xfrm>
            <a:off x="2423200" y="167375"/>
            <a:ext cx="9650400" cy="6156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Clr>
                <a:schemeClr val="dk1"/>
              </a:buClr>
              <a:buSzPts val="2800"/>
              <a:buFont typeface="Calibri"/>
              <a:buAutoNum type="arabicParenR"/>
            </a:pPr>
            <a:r>
              <a:rPr lang="en-US" sz="2800">
                <a:solidFill>
                  <a:schemeClr val="dk1"/>
                </a:solidFill>
                <a:latin typeface="Calibri"/>
                <a:ea typeface="Calibri"/>
                <a:cs typeface="Calibri"/>
                <a:sym typeface="Calibri"/>
              </a:rPr>
              <a:t> Using DistilBERT as word embedding</a:t>
            </a:r>
            <a:endParaRPr sz="2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7"/>
          <p:cNvSpPr txBox="1"/>
          <p:nvPr/>
        </p:nvSpPr>
        <p:spPr>
          <a:xfrm>
            <a:off x="1701275" y="208200"/>
            <a:ext cx="9127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Using DistilBERT word embedding and then applying classical machine learning algorithms gives following results.</a:t>
            </a:r>
            <a:endParaRPr sz="2800">
              <a:solidFill>
                <a:schemeClr val="dk1"/>
              </a:solidFill>
              <a:latin typeface="Calibri"/>
              <a:ea typeface="Calibri"/>
              <a:cs typeface="Calibri"/>
              <a:sym typeface="Calibri"/>
            </a:endParaRPr>
          </a:p>
        </p:txBody>
      </p:sp>
      <p:graphicFrame>
        <p:nvGraphicFramePr>
          <p:cNvPr id="129" name="Google Shape;129;p17"/>
          <p:cNvGraphicFramePr/>
          <p:nvPr/>
        </p:nvGraphicFramePr>
        <p:xfrm>
          <a:off x="952500" y="2476500"/>
          <a:ext cx="3000000" cy="3000000"/>
        </p:xfrm>
        <a:graphic>
          <a:graphicData uri="http://schemas.openxmlformats.org/drawingml/2006/table">
            <a:tbl>
              <a:tblPr>
                <a:noFill/>
                <a:tableStyleId>{CB6ED5B6-0BC6-41D2-8E14-1989918827C2}</a:tableStyleId>
              </a:tblPr>
              <a:tblGrid>
                <a:gridCol w="5143500"/>
                <a:gridCol w="5143500"/>
              </a:tblGrid>
              <a:tr h="381000">
                <a:tc>
                  <a:txBody>
                    <a:bodyPr/>
                    <a:lstStyle/>
                    <a:p>
                      <a:pPr indent="0" lvl="0" marL="0" rtl="0" algn="l">
                        <a:spcBef>
                          <a:spcPts val="0"/>
                        </a:spcBef>
                        <a:spcAft>
                          <a:spcPts val="0"/>
                        </a:spcAft>
                        <a:buNone/>
                      </a:pPr>
                      <a:r>
                        <a:rPr b="1" lang="en-US"/>
                        <a:t>Model</a:t>
                      </a:r>
                      <a:endParaRPr b="1"/>
                    </a:p>
                  </a:txBody>
                  <a:tcPr marT="91425" marB="91425" marR="91425" marL="91425"/>
                </a:tc>
                <a:tc>
                  <a:txBody>
                    <a:bodyPr/>
                    <a:lstStyle/>
                    <a:p>
                      <a:pPr indent="0" lvl="0" marL="0" rtl="0" algn="l">
                        <a:spcBef>
                          <a:spcPts val="0"/>
                        </a:spcBef>
                        <a:spcAft>
                          <a:spcPts val="0"/>
                        </a:spcAft>
                        <a:buNone/>
                      </a:pPr>
                      <a:r>
                        <a:rPr b="1" lang="en-US"/>
                        <a:t>Accuracy</a:t>
                      </a:r>
                      <a:endParaRPr b="1"/>
                    </a:p>
                  </a:txBody>
                  <a:tcPr marT="91425" marB="91425" marR="91425" marL="91425"/>
                </a:tc>
              </a:tr>
              <a:tr h="381000">
                <a:tc>
                  <a:txBody>
                    <a:bodyPr/>
                    <a:lstStyle/>
                    <a:p>
                      <a:pPr indent="0" lvl="0" marL="0" rtl="0" algn="l">
                        <a:spcBef>
                          <a:spcPts val="0"/>
                        </a:spcBef>
                        <a:spcAft>
                          <a:spcPts val="0"/>
                        </a:spcAft>
                        <a:buNone/>
                      </a:pPr>
                      <a:r>
                        <a:rPr lang="en-US"/>
                        <a:t>Logistic Regression</a:t>
                      </a:r>
                      <a:endParaRPr/>
                    </a:p>
                  </a:txBody>
                  <a:tcPr marT="91425" marB="91425" marR="91425" marL="91425"/>
                </a:tc>
                <a:tc>
                  <a:txBody>
                    <a:bodyPr/>
                    <a:lstStyle/>
                    <a:p>
                      <a:pPr indent="0" lvl="0" marL="0" rtl="0" algn="l">
                        <a:spcBef>
                          <a:spcPts val="0"/>
                        </a:spcBef>
                        <a:spcAft>
                          <a:spcPts val="0"/>
                        </a:spcAft>
                        <a:buNone/>
                      </a:pPr>
                      <a:r>
                        <a:rPr lang="en-US"/>
                        <a:t>87.25</a:t>
                      </a:r>
                      <a:endParaRPr/>
                    </a:p>
                  </a:txBody>
                  <a:tcPr marT="91425" marB="91425" marR="91425" marL="91425"/>
                </a:tc>
              </a:tr>
              <a:tr h="381000">
                <a:tc>
                  <a:txBody>
                    <a:bodyPr/>
                    <a:lstStyle/>
                    <a:p>
                      <a:pPr indent="0" lvl="0" marL="0" rtl="0" algn="l">
                        <a:spcBef>
                          <a:spcPts val="0"/>
                        </a:spcBef>
                        <a:spcAft>
                          <a:spcPts val="0"/>
                        </a:spcAft>
                        <a:buNone/>
                      </a:pPr>
                      <a:r>
                        <a:rPr lang="en-US"/>
                        <a:t>Random Forest</a:t>
                      </a:r>
                      <a:endParaRPr/>
                    </a:p>
                  </a:txBody>
                  <a:tcPr marT="91425" marB="91425" marR="91425" marL="91425"/>
                </a:tc>
                <a:tc>
                  <a:txBody>
                    <a:bodyPr/>
                    <a:lstStyle/>
                    <a:p>
                      <a:pPr indent="0" lvl="0" marL="0" rtl="0" algn="l">
                        <a:spcBef>
                          <a:spcPts val="0"/>
                        </a:spcBef>
                        <a:spcAft>
                          <a:spcPts val="0"/>
                        </a:spcAft>
                        <a:buNone/>
                      </a:pPr>
                      <a:r>
                        <a:rPr lang="en-US"/>
                        <a:t>86.36</a:t>
                      </a:r>
                      <a:endParaRPr/>
                    </a:p>
                  </a:txBody>
                  <a:tcPr marT="91425" marB="91425" marR="91425" marL="91425"/>
                </a:tc>
              </a:tr>
              <a:tr h="381000">
                <a:tc>
                  <a:txBody>
                    <a:bodyPr/>
                    <a:lstStyle/>
                    <a:p>
                      <a:pPr indent="0" lvl="0" marL="0" rtl="0" algn="l">
                        <a:spcBef>
                          <a:spcPts val="0"/>
                        </a:spcBef>
                        <a:spcAft>
                          <a:spcPts val="0"/>
                        </a:spcAft>
                        <a:buNone/>
                      </a:pPr>
                      <a:r>
                        <a:rPr lang="en-US"/>
                        <a:t>Naive Bayes</a:t>
                      </a:r>
                      <a:endParaRPr/>
                    </a:p>
                  </a:txBody>
                  <a:tcPr marT="91425" marB="91425" marR="91425" marL="91425"/>
                </a:tc>
                <a:tc>
                  <a:txBody>
                    <a:bodyPr/>
                    <a:lstStyle/>
                    <a:p>
                      <a:pPr indent="0" lvl="0" marL="0" rtl="0" algn="l">
                        <a:spcBef>
                          <a:spcPts val="0"/>
                        </a:spcBef>
                        <a:spcAft>
                          <a:spcPts val="0"/>
                        </a:spcAft>
                        <a:buNone/>
                      </a:pPr>
                      <a:r>
                        <a:rPr lang="en-US"/>
                        <a:t>81.32</a:t>
                      </a:r>
                      <a:endParaRPr/>
                    </a:p>
                  </a:txBody>
                  <a:tcPr marT="91425" marB="91425" marR="91425" marL="91425"/>
                </a:tc>
              </a:tr>
              <a:tr h="381000">
                <a:tc>
                  <a:txBody>
                    <a:bodyPr/>
                    <a:lstStyle/>
                    <a:p>
                      <a:pPr indent="0" lvl="0" marL="0" rtl="0" algn="l">
                        <a:spcBef>
                          <a:spcPts val="0"/>
                        </a:spcBef>
                        <a:spcAft>
                          <a:spcPts val="0"/>
                        </a:spcAft>
                        <a:buNone/>
                      </a:pPr>
                      <a:r>
                        <a:rPr lang="en-US"/>
                        <a:t>Support Vector Machine</a:t>
                      </a:r>
                      <a:endParaRPr/>
                    </a:p>
                  </a:txBody>
                  <a:tcPr marT="91425" marB="91425" marR="91425" marL="91425"/>
                </a:tc>
                <a:tc>
                  <a:txBody>
                    <a:bodyPr/>
                    <a:lstStyle/>
                    <a:p>
                      <a:pPr indent="0" lvl="0" marL="0" rtl="0" algn="l">
                        <a:spcBef>
                          <a:spcPts val="0"/>
                        </a:spcBef>
                        <a:spcAft>
                          <a:spcPts val="0"/>
                        </a:spcAft>
                        <a:buNone/>
                      </a:pPr>
                      <a:r>
                        <a:rPr lang="en-US"/>
                        <a:t>87.75</a:t>
                      </a:r>
                      <a:endParaRPr/>
                    </a:p>
                  </a:txBody>
                  <a:tcPr marT="91425" marB="91425" marR="91425" marL="91425"/>
                </a:tc>
              </a:tr>
            </a:tbl>
          </a:graphicData>
        </a:graphic>
      </p:graphicFrame>
      <p:sp>
        <p:nvSpPr>
          <p:cNvPr id="130" name="Google Shape;130;p17"/>
          <p:cNvSpPr txBox="1"/>
          <p:nvPr/>
        </p:nvSpPr>
        <p:spPr>
          <a:xfrm>
            <a:off x="5473175" y="1363250"/>
            <a:ext cx="7123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txBox="1"/>
          <p:nvPr/>
        </p:nvSpPr>
        <p:spPr>
          <a:xfrm>
            <a:off x="1177925" y="208200"/>
            <a:ext cx="9686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 2) Adding classification head over distillbert and only tuning the classification head.</a:t>
            </a:r>
            <a:endParaRPr sz="2800">
              <a:solidFill>
                <a:schemeClr val="dk1"/>
              </a:solidFill>
              <a:latin typeface="Calibri"/>
              <a:ea typeface="Calibri"/>
              <a:cs typeface="Calibri"/>
              <a:sym typeface="Calibri"/>
            </a:endParaRPr>
          </a:p>
        </p:txBody>
      </p:sp>
      <p:sp>
        <p:nvSpPr>
          <p:cNvPr id="137" name="Google Shape;137;p18"/>
          <p:cNvSpPr txBox="1"/>
          <p:nvPr/>
        </p:nvSpPr>
        <p:spPr>
          <a:xfrm>
            <a:off x="963900" y="1254900"/>
            <a:ext cx="10264200" cy="49872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Input text is fed into DistilBERT.</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DistilBERT acts as a feature extractor, generating high-level representations of the input text.</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A classification head, typically consisting of one or more fully connected layers, is added on top of DistilBERT.</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The classification head maps the extracted features to the desired output classes for the classification task.</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During training, only the parameters of the classification head are updated, keeping the DistilBERT parameters fixed.</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This architecture allows for efficient adaptation of pre-trained language understanding to specific classification tasks with minimal computational resources and training time.</a:t>
            </a:r>
            <a:endParaRPr sz="2400">
              <a:solidFill>
                <a:schemeClr val="dk1"/>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9"/>
          <p:cNvPicPr preferRelativeResize="0"/>
          <p:nvPr/>
        </p:nvPicPr>
        <p:blipFill>
          <a:blip r:embed="rId3">
            <a:alphaModFix/>
          </a:blip>
          <a:stretch>
            <a:fillRect/>
          </a:stretch>
        </p:blipFill>
        <p:spPr>
          <a:xfrm>
            <a:off x="1072825" y="2170788"/>
            <a:ext cx="10430151" cy="2516425"/>
          </a:xfrm>
          <a:prstGeom prst="rect">
            <a:avLst/>
          </a:prstGeom>
          <a:noFill/>
          <a:ln>
            <a:noFill/>
          </a:ln>
        </p:spPr>
      </p:pic>
      <p:sp>
        <p:nvSpPr>
          <p:cNvPr id="144" name="Google Shape;144;p19"/>
          <p:cNvSpPr txBox="1"/>
          <p:nvPr/>
        </p:nvSpPr>
        <p:spPr>
          <a:xfrm>
            <a:off x="4769350" y="5297575"/>
            <a:ext cx="7448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Architecture Diagram</a:t>
            </a:r>
            <a:endParaRPr sz="2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nvSpPr>
        <p:spPr>
          <a:xfrm>
            <a:off x="1809600" y="244300"/>
            <a:ext cx="965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3) Fine tune BERT with classification head on.</a:t>
            </a:r>
            <a:endParaRPr sz="2800">
              <a:solidFill>
                <a:schemeClr val="dk1"/>
              </a:solidFill>
              <a:latin typeface="Calibri"/>
              <a:ea typeface="Calibri"/>
              <a:cs typeface="Calibri"/>
              <a:sym typeface="Calibri"/>
            </a:endParaRPr>
          </a:p>
        </p:txBody>
      </p:sp>
      <p:sp>
        <p:nvSpPr>
          <p:cNvPr id="151" name="Google Shape;151;p20"/>
          <p:cNvSpPr txBox="1"/>
          <p:nvPr/>
        </p:nvSpPr>
        <p:spPr>
          <a:xfrm>
            <a:off x="762825" y="1092525"/>
            <a:ext cx="10395300" cy="49254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BERT as base model: Utilizes pre-trained transformer architecture for contextual understanding.</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Classification head: Added atop BERT for task-specific mapping of features.</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Fine-tuning process: Adjusts both BERT and classification head parameters simultaneously.</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Input → BERT → Classification Head → Output: Captures contextual embeddings and maps to output classes.</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Benefits: Leveraging pre-trained knowledge for improved task performance with minimal data.</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1"/>
          <p:cNvPicPr preferRelativeResize="0"/>
          <p:nvPr/>
        </p:nvPicPr>
        <p:blipFill>
          <a:blip r:embed="rId3">
            <a:alphaModFix/>
          </a:blip>
          <a:stretch>
            <a:fillRect/>
          </a:stretch>
        </p:blipFill>
        <p:spPr>
          <a:xfrm>
            <a:off x="1067922" y="2215900"/>
            <a:ext cx="10056175" cy="2426200"/>
          </a:xfrm>
          <a:prstGeom prst="rect">
            <a:avLst/>
          </a:prstGeom>
          <a:noFill/>
          <a:ln>
            <a:noFill/>
          </a:ln>
        </p:spPr>
      </p:pic>
      <p:sp>
        <p:nvSpPr>
          <p:cNvPr id="158" name="Google Shape;158;p21"/>
          <p:cNvSpPr txBox="1"/>
          <p:nvPr/>
        </p:nvSpPr>
        <p:spPr>
          <a:xfrm>
            <a:off x="4191825" y="4972725"/>
            <a:ext cx="3826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Architecture Diagram</a:t>
            </a:r>
            <a:endParaRPr sz="2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txBox="1"/>
          <p:nvPr/>
        </p:nvSpPr>
        <p:spPr>
          <a:xfrm>
            <a:off x="800500" y="3608575"/>
            <a:ext cx="7942800" cy="6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4. SetFit (Sentence Transformers Finetuning)</a:t>
            </a:r>
            <a:endParaRPr sz="2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0" name="Google Shape;170;p23"/>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00"/>
              </a:buClr>
              <a:buSzPts val="3200"/>
              <a:buFont typeface="Calibri"/>
              <a:buNone/>
            </a:pPr>
            <a:r>
              <a:rPr lang="en-US">
                <a:solidFill>
                  <a:srgbClr val="000000"/>
                </a:solidFill>
              </a:rPr>
              <a:t>SetFit</a:t>
            </a:r>
            <a:endParaRPr/>
          </a:p>
        </p:txBody>
      </p:sp>
      <p:sp>
        <p:nvSpPr>
          <p:cNvPr id="171" name="Google Shape;171;p23"/>
          <p:cNvSpPr txBox="1"/>
          <p:nvPr/>
        </p:nvSpPr>
        <p:spPr>
          <a:xfrm>
            <a:off x="351625" y="890300"/>
            <a:ext cx="11520000" cy="216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chemeClr val="dk1"/>
                </a:solidFill>
              </a:rPr>
              <a:t>SETFIT uses a two-step training approach</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lang="en-US" sz="2000">
                <a:solidFill>
                  <a:schemeClr val="dk1"/>
                </a:solidFill>
              </a:rPr>
              <a:t>An ST is fine-tuned on the input data in a contrastive manner on sentence pairs. In the second step, a text classification head is trained using the encoded training data generated by the fine-tuned ST from the first step.</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lang="en-US" sz="2000">
                <a:solidFill>
                  <a:schemeClr val="dk1"/>
                </a:solidFill>
              </a:rPr>
              <a:t>A text classification head is trained using the encoded training data generated by the fine-tuned ST from the first step</a:t>
            </a:r>
            <a:endParaRPr sz="2000">
              <a:solidFill>
                <a:schemeClr val="dk1"/>
              </a:solidFill>
            </a:endParaRPr>
          </a:p>
        </p:txBody>
      </p:sp>
      <p:pic>
        <p:nvPicPr>
          <p:cNvPr id="172" name="Google Shape;172;p23"/>
          <p:cNvPicPr preferRelativeResize="0"/>
          <p:nvPr/>
        </p:nvPicPr>
        <p:blipFill>
          <a:blip r:embed="rId3">
            <a:alphaModFix/>
          </a:blip>
          <a:stretch>
            <a:fillRect/>
          </a:stretch>
        </p:blipFill>
        <p:spPr>
          <a:xfrm>
            <a:off x="530975" y="3429000"/>
            <a:ext cx="11130049" cy="2479293"/>
          </a:xfrm>
          <a:prstGeom prst="rect">
            <a:avLst/>
          </a:prstGeom>
          <a:noFill/>
          <a:ln>
            <a:noFill/>
          </a:ln>
        </p:spPr>
      </p:pic>
      <p:sp>
        <p:nvSpPr>
          <p:cNvPr id="173" name="Google Shape;173;p23"/>
          <p:cNvSpPr txBox="1"/>
          <p:nvPr/>
        </p:nvSpPr>
        <p:spPr>
          <a:xfrm>
            <a:off x="6497425" y="6351750"/>
            <a:ext cx="5374200" cy="31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100">
                <a:solidFill>
                  <a:schemeClr val="dk1"/>
                </a:solidFill>
              </a:rPr>
              <a:t>Lewis Tunstall &amp;  Nils Reimers (2022). Efficient Few-Shot Learning Without Prompts</a:t>
            </a:r>
            <a:endParaRPr sz="15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4"/>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9" name="Google Shape;179;p24"/>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a:t>SetFit</a:t>
            </a:r>
            <a:endParaRPr/>
          </a:p>
        </p:txBody>
      </p:sp>
      <p:pic>
        <p:nvPicPr>
          <p:cNvPr id="180" name="Google Shape;180;p24"/>
          <p:cNvPicPr preferRelativeResize="0"/>
          <p:nvPr/>
        </p:nvPicPr>
        <p:blipFill>
          <a:blip r:embed="rId3">
            <a:alphaModFix/>
          </a:blip>
          <a:stretch>
            <a:fillRect/>
          </a:stretch>
        </p:blipFill>
        <p:spPr>
          <a:xfrm>
            <a:off x="3082853" y="748427"/>
            <a:ext cx="6026300" cy="5825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6" name="Google Shape;186;p25"/>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00"/>
              </a:buClr>
              <a:buSzPts val="3200"/>
              <a:buFont typeface="Calibri"/>
              <a:buNone/>
            </a:pPr>
            <a:r>
              <a:rPr lang="en-US">
                <a:solidFill>
                  <a:srgbClr val="000000"/>
                </a:solidFill>
              </a:rPr>
              <a:t>SetFit</a:t>
            </a:r>
            <a:endParaRPr/>
          </a:p>
        </p:txBody>
      </p:sp>
      <p:pic>
        <p:nvPicPr>
          <p:cNvPr id="187" name="Google Shape;187;p25"/>
          <p:cNvPicPr preferRelativeResize="0"/>
          <p:nvPr/>
        </p:nvPicPr>
        <p:blipFill>
          <a:blip r:embed="rId3">
            <a:alphaModFix/>
          </a:blip>
          <a:stretch>
            <a:fillRect/>
          </a:stretch>
        </p:blipFill>
        <p:spPr>
          <a:xfrm>
            <a:off x="1146788" y="2646019"/>
            <a:ext cx="9898429" cy="156596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nvSpPr>
        <p:spPr>
          <a:xfrm>
            <a:off x="800500" y="3608575"/>
            <a:ext cx="7942800" cy="6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4. GPT2</a:t>
            </a:r>
            <a:endParaRPr sz="2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7"/>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9" name="Google Shape;199;p27"/>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n-US" sz="2800" cap="none"/>
              <a:t>GPT2</a:t>
            </a:r>
            <a:endParaRPr/>
          </a:p>
        </p:txBody>
      </p:sp>
      <p:sp>
        <p:nvSpPr>
          <p:cNvPr id="200" name="Google Shape;200;p27"/>
          <p:cNvSpPr txBox="1"/>
          <p:nvPr/>
        </p:nvSpPr>
        <p:spPr>
          <a:xfrm>
            <a:off x="389025" y="915225"/>
            <a:ext cx="11396700" cy="56586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chemeClr val="dk1"/>
              </a:buClr>
              <a:buSzPts val="2000"/>
              <a:buAutoNum type="arabicPeriod"/>
            </a:pPr>
            <a:r>
              <a:rPr lang="en-US" sz="2000">
                <a:solidFill>
                  <a:schemeClr val="dk1"/>
                </a:solidFill>
              </a:rPr>
              <a:t>GPT2 is a model made by stacking decoder part of transformers.</a:t>
            </a:r>
            <a:endParaRPr sz="2000">
              <a:solidFill>
                <a:schemeClr val="dk1"/>
              </a:solidFill>
            </a:endParaRPr>
          </a:p>
          <a:p>
            <a:pPr indent="0" lvl="0" marL="0" rtl="0" algn="l">
              <a:lnSpc>
                <a:spcPct val="115000"/>
              </a:lnSpc>
              <a:spcBef>
                <a:spcPts val="0"/>
              </a:spcBef>
              <a:spcAft>
                <a:spcPts val="0"/>
              </a:spcAft>
              <a:buNone/>
            </a:pPr>
            <a:r>
              <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lang="en-US" sz="2000">
                <a:solidFill>
                  <a:schemeClr val="dk1"/>
                </a:solidFill>
              </a:rPr>
              <a:t>GPT2 is an </a:t>
            </a:r>
            <a:r>
              <a:rPr lang="en-US" sz="2000">
                <a:solidFill>
                  <a:schemeClr val="dk1"/>
                </a:solidFill>
              </a:rPr>
              <a:t>autoregressive model meaning that the current token is taken as an input for the future generation.</a:t>
            </a:r>
            <a:endParaRPr sz="2000">
              <a:solidFill>
                <a:schemeClr val="dk1"/>
              </a:solidFill>
            </a:endParaRPr>
          </a:p>
          <a:p>
            <a:pPr indent="0" lvl="0" marL="0" rtl="0" algn="l">
              <a:lnSpc>
                <a:spcPct val="115000"/>
              </a:lnSpc>
              <a:spcBef>
                <a:spcPts val="0"/>
              </a:spcBef>
              <a:spcAft>
                <a:spcPts val="0"/>
              </a:spcAft>
              <a:buNone/>
            </a:pPr>
            <a:r>
              <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lang="en-US" sz="2000">
                <a:solidFill>
                  <a:schemeClr val="dk1"/>
                </a:solidFill>
              </a:rPr>
              <a:t>GPT-2 model has a total of 1.5 Billion parameters.</a:t>
            </a:r>
            <a:endParaRPr sz="2000">
              <a:solidFill>
                <a:schemeClr val="dk1"/>
              </a:solidFill>
            </a:endParaRPr>
          </a:p>
          <a:p>
            <a:pPr indent="0" lvl="0" marL="0" rtl="0" algn="l">
              <a:lnSpc>
                <a:spcPct val="115000"/>
              </a:lnSpc>
              <a:spcBef>
                <a:spcPts val="0"/>
              </a:spcBef>
              <a:spcAft>
                <a:spcPts val="0"/>
              </a:spcAft>
              <a:buNone/>
            </a:pPr>
            <a:r>
              <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lang="en-US" sz="2000">
                <a:solidFill>
                  <a:schemeClr val="dk1"/>
                </a:solidFill>
              </a:rPr>
              <a:t>It is trained on a much larger unlabeled dataset as compared to GPT1.</a:t>
            </a:r>
            <a:endParaRPr sz="20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ph idx="12" type="sldNum"/>
          </p:nvPr>
        </p:nvSpPr>
        <p:spPr>
          <a:xfrm>
            <a:off x="9517800" y="657387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6" name="Google Shape;206;p28"/>
          <p:cNvSpPr txBox="1"/>
          <p:nvPr>
            <p:ph type="title"/>
          </p:nvPr>
        </p:nvSpPr>
        <p:spPr>
          <a:xfrm>
            <a:off x="336000" y="99000"/>
            <a:ext cx="11520000" cy="535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n-US" sz="2800" cap="none"/>
              <a:t>GPT2</a:t>
            </a:r>
            <a:endParaRPr/>
          </a:p>
        </p:txBody>
      </p:sp>
      <p:pic>
        <p:nvPicPr>
          <p:cNvPr id="207" name="Google Shape;207;p28"/>
          <p:cNvPicPr preferRelativeResize="0"/>
          <p:nvPr/>
        </p:nvPicPr>
        <p:blipFill>
          <a:blip r:embed="rId3">
            <a:alphaModFix/>
          </a:blip>
          <a:stretch>
            <a:fillRect/>
          </a:stretch>
        </p:blipFill>
        <p:spPr>
          <a:xfrm>
            <a:off x="276500" y="939331"/>
            <a:ext cx="11638990" cy="563454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9"/>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3" name="Google Shape;213;p29"/>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n-US" sz="2800" cap="none"/>
              <a:t>GPT2</a:t>
            </a:r>
            <a:endParaRPr/>
          </a:p>
        </p:txBody>
      </p:sp>
      <p:pic>
        <p:nvPicPr>
          <p:cNvPr id="214" name="Google Shape;214;p29"/>
          <p:cNvPicPr preferRelativeResize="0"/>
          <p:nvPr/>
        </p:nvPicPr>
        <p:blipFill>
          <a:blip r:embed="rId3">
            <a:alphaModFix/>
          </a:blip>
          <a:stretch>
            <a:fillRect/>
          </a:stretch>
        </p:blipFill>
        <p:spPr>
          <a:xfrm>
            <a:off x="2396825" y="2181231"/>
            <a:ext cx="6553200" cy="24955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0"/>
          <p:cNvSpPr txBox="1"/>
          <p:nvPr>
            <p:ph idx="12" type="sldNum"/>
          </p:nvPr>
        </p:nvSpPr>
        <p:spPr>
          <a:xfrm>
            <a:off x="9517800" y="657387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0" name="Google Shape;220;p30"/>
          <p:cNvSpPr txBox="1"/>
          <p:nvPr>
            <p:ph type="title"/>
          </p:nvPr>
        </p:nvSpPr>
        <p:spPr>
          <a:xfrm>
            <a:off x="336000" y="99000"/>
            <a:ext cx="11520000" cy="535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n-US" sz="2800" cap="none"/>
              <a:t>GPT2</a:t>
            </a:r>
            <a:endParaRPr/>
          </a:p>
        </p:txBody>
      </p:sp>
      <p:pic>
        <p:nvPicPr>
          <p:cNvPr id="221" name="Google Shape;221;p30"/>
          <p:cNvPicPr preferRelativeResize="0"/>
          <p:nvPr/>
        </p:nvPicPr>
        <p:blipFill>
          <a:blip r:embed="rId3">
            <a:alphaModFix/>
          </a:blip>
          <a:stretch>
            <a:fillRect/>
          </a:stretch>
        </p:blipFill>
        <p:spPr>
          <a:xfrm>
            <a:off x="2469925" y="737025"/>
            <a:ext cx="7252129" cy="59187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1"/>
          <p:cNvSpPr txBox="1"/>
          <p:nvPr/>
        </p:nvSpPr>
        <p:spPr>
          <a:xfrm>
            <a:off x="800500" y="3608575"/>
            <a:ext cx="7942800" cy="6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6</a:t>
            </a:r>
            <a:r>
              <a:rPr lang="en-US" sz="2800">
                <a:solidFill>
                  <a:schemeClr val="dk1"/>
                </a:solidFill>
                <a:latin typeface="Calibri"/>
                <a:ea typeface="Calibri"/>
                <a:cs typeface="Calibri"/>
                <a:sym typeface="Calibri"/>
              </a:rPr>
              <a:t>. RoBERTa</a:t>
            </a:r>
            <a:endParaRPr sz="2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2"/>
          <p:cNvSpPr txBox="1"/>
          <p:nvPr>
            <p:ph idx="12" type="sldNum"/>
          </p:nvPr>
        </p:nvSpPr>
        <p:spPr>
          <a:xfrm>
            <a:off x="9517800" y="657387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3" name="Google Shape;233;p32"/>
          <p:cNvSpPr txBox="1"/>
          <p:nvPr>
            <p:ph type="title"/>
          </p:nvPr>
        </p:nvSpPr>
        <p:spPr>
          <a:xfrm>
            <a:off x="336000" y="99000"/>
            <a:ext cx="11520000" cy="535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n-US" sz="2800" cap="none"/>
              <a:t>RoBERTa</a:t>
            </a:r>
            <a:endParaRPr/>
          </a:p>
        </p:txBody>
      </p:sp>
      <p:sp>
        <p:nvSpPr>
          <p:cNvPr id="234" name="Google Shape;234;p32"/>
          <p:cNvSpPr txBox="1"/>
          <p:nvPr/>
        </p:nvSpPr>
        <p:spPr>
          <a:xfrm>
            <a:off x="376575" y="852875"/>
            <a:ext cx="11479500" cy="57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0" lvl="0" marL="0" rtl="0" algn="l">
              <a:spcBef>
                <a:spcPts val="0"/>
              </a:spcBef>
              <a:spcAft>
                <a:spcPts val="0"/>
              </a:spcAft>
              <a:buNone/>
            </a:pPr>
            <a:r>
              <a:rPr lang="en-US" sz="1700">
                <a:solidFill>
                  <a:schemeClr val="dk1"/>
                </a:solidFill>
                <a:latin typeface="Calibri"/>
                <a:ea typeface="Calibri"/>
                <a:cs typeface="Calibri"/>
                <a:sym typeface="Calibri"/>
              </a:rPr>
              <a:t>Modifications from BERT:</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AutoNum type="arabicPeriod"/>
            </a:pPr>
            <a:r>
              <a:rPr lang="en-US" sz="1700">
                <a:solidFill>
                  <a:schemeClr val="dk1"/>
                </a:solidFill>
                <a:latin typeface="Calibri"/>
                <a:ea typeface="Calibri"/>
                <a:cs typeface="Calibri"/>
                <a:sym typeface="Calibri"/>
              </a:rPr>
              <a:t>RoBERTa was trained on a dataset of 160GB of text, which is more than 10 times larger than the dataset used to train BERT</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AutoNum type="arabicPeriod"/>
            </a:pPr>
            <a:r>
              <a:rPr lang="en-US" sz="1700">
                <a:solidFill>
                  <a:schemeClr val="dk1"/>
                </a:solidFill>
                <a:latin typeface="Calibri"/>
                <a:ea typeface="Calibri"/>
                <a:cs typeface="Calibri"/>
                <a:sym typeface="Calibri"/>
              </a:rPr>
              <a:t>Removed the Next Sentence Prediction (NSP) objective. Only trained of MLM (Masked Language Modelling)</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AutoNum type="arabicPeriod"/>
            </a:pPr>
            <a:r>
              <a:rPr lang="en-US" sz="1700">
                <a:solidFill>
                  <a:schemeClr val="dk1"/>
                </a:solidFill>
                <a:latin typeface="Calibri"/>
                <a:ea typeface="Calibri"/>
                <a:cs typeface="Calibri"/>
                <a:sym typeface="Calibri"/>
              </a:rPr>
              <a:t>Trained with Bigger Batch Sizes</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AutoNum type="arabicPeriod"/>
            </a:pPr>
            <a:r>
              <a:rPr lang="en-US" sz="1700">
                <a:solidFill>
                  <a:schemeClr val="dk1"/>
                </a:solidFill>
                <a:latin typeface="Calibri"/>
                <a:ea typeface="Calibri"/>
                <a:cs typeface="Calibri"/>
                <a:sym typeface="Calibri"/>
              </a:rPr>
              <a:t>In the Masked Language Model (MLM) training objective, RoBERTa employs dynamic masking to generate the masking pattern every time a sequence is fed to the model.</a:t>
            </a:r>
            <a:endParaRPr sz="17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ph idx="12" type="sldNum"/>
          </p:nvPr>
        </p:nvSpPr>
        <p:spPr>
          <a:xfrm>
            <a:off x="9517800" y="657387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0" name="Google Shape;240;p33"/>
          <p:cNvSpPr txBox="1"/>
          <p:nvPr>
            <p:ph type="title"/>
          </p:nvPr>
        </p:nvSpPr>
        <p:spPr>
          <a:xfrm>
            <a:off x="336000" y="99000"/>
            <a:ext cx="11520000" cy="535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n-US" sz="2800" cap="none"/>
              <a:t>RoBERTa</a:t>
            </a:r>
            <a:endParaRPr/>
          </a:p>
        </p:txBody>
      </p:sp>
      <p:pic>
        <p:nvPicPr>
          <p:cNvPr id="241" name="Google Shape;241;p33"/>
          <p:cNvPicPr preferRelativeResize="0"/>
          <p:nvPr/>
        </p:nvPicPr>
        <p:blipFill>
          <a:blip r:embed="rId3">
            <a:alphaModFix/>
          </a:blip>
          <a:stretch>
            <a:fillRect/>
          </a:stretch>
        </p:blipFill>
        <p:spPr>
          <a:xfrm>
            <a:off x="4010025" y="1028700"/>
            <a:ext cx="4171950" cy="4800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txBox="1"/>
          <p:nvPr>
            <p:ph idx="12" type="sldNum"/>
          </p:nvPr>
        </p:nvSpPr>
        <p:spPr>
          <a:xfrm>
            <a:off x="9517800" y="657387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7" name="Google Shape;247;p34"/>
          <p:cNvSpPr txBox="1"/>
          <p:nvPr>
            <p:ph type="title"/>
          </p:nvPr>
        </p:nvSpPr>
        <p:spPr>
          <a:xfrm>
            <a:off x="336000" y="99000"/>
            <a:ext cx="11520000" cy="535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n-US" sz="2800" cap="none"/>
              <a:t>RoBERTa</a:t>
            </a:r>
            <a:endParaRPr/>
          </a:p>
        </p:txBody>
      </p:sp>
      <p:pic>
        <p:nvPicPr>
          <p:cNvPr id="248" name="Google Shape;248;p34"/>
          <p:cNvPicPr preferRelativeResize="0"/>
          <p:nvPr/>
        </p:nvPicPr>
        <p:blipFill>
          <a:blip r:embed="rId3">
            <a:alphaModFix/>
          </a:blip>
          <a:stretch>
            <a:fillRect/>
          </a:stretch>
        </p:blipFill>
        <p:spPr>
          <a:xfrm>
            <a:off x="415088" y="1364074"/>
            <a:ext cx="11361827" cy="1797925"/>
          </a:xfrm>
          <a:prstGeom prst="rect">
            <a:avLst/>
          </a:prstGeom>
          <a:noFill/>
          <a:ln>
            <a:noFill/>
          </a:ln>
        </p:spPr>
      </p:pic>
      <p:pic>
        <p:nvPicPr>
          <p:cNvPr id="249" name="Google Shape;249;p34"/>
          <p:cNvPicPr preferRelativeResize="0"/>
          <p:nvPr/>
        </p:nvPicPr>
        <p:blipFill>
          <a:blip r:embed="rId4">
            <a:alphaModFix/>
          </a:blip>
          <a:stretch>
            <a:fillRect/>
          </a:stretch>
        </p:blipFill>
        <p:spPr>
          <a:xfrm>
            <a:off x="3414713" y="3376725"/>
            <a:ext cx="5362575" cy="3048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5"/>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lang="en-US"/>
              <a:t>Outcomes </a:t>
            </a:r>
            <a:endParaRPr/>
          </a:p>
        </p:txBody>
      </p:sp>
      <p:sp>
        <p:nvSpPr>
          <p:cNvPr id="255" name="Google Shape;255;p35"/>
          <p:cNvSpPr/>
          <p:nvPr/>
        </p:nvSpPr>
        <p:spPr>
          <a:xfrm>
            <a:off x="412200" y="713082"/>
            <a:ext cx="6096000" cy="568800"/>
          </a:xfrm>
          <a:prstGeom prst="rect">
            <a:avLst/>
          </a:prstGeom>
          <a:noFill/>
          <a:ln>
            <a:noFill/>
          </a:ln>
        </p:spPr>
        <p:txBody>
          <a:bodyPr anchorCtr="0" anchor="t" bIns="45700" lIns="91425" spcFirstLastPara="1" rIns="91425" wrap="square" tIns="45700">
            <a:noAutofit/>
          </a:bodyPr>
          <a:lstStyle/>
          <a:p>
            <a:pPr indent="0" lvl="0" marL="457200" marR="0" rtl="0" algn="l">
              <a:lnSpc>
                <a:spcPct val="200000"/>
              </a:lnSpc>
              <a:spcBef>
                <a:spcPts val="0"/>
              </a:spcBef>
              <a:spcAft>
                <a:spcPts val="0"/>
              </a:spcAft>
              <a:buNone/>
            </a:pPr>
            <a:r>
              <a:t/>
            </a:r>
            <a:endParaRPr/>
          </a:p>
        </p:txBody>
      </p:sp>
      <p:sp>
        <p:nvSpPr>
          <p:cNvPr id="256" name="Google Shape;256;p35"/>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57" name="Google Shape;257;p35"/>
          <p:cNvGraphicFramePr/>
          <p:nvPr/>
        </p:nvGraphicFramePr>
        <p:xfrm>
          <a:off x="1096875" y="2019300"/>
          <a:ext cx="3000000" cy="3000000"/>
        </p:xfrm>
        <a:graphic>
          <a:graphicData uri="http://schemas.openxmlformats.org/drawingml/2006/table">
            <a:tbl>
              <a:tblPr>
                <a:noFill/>
                <a:tableStyleId>{CB6ED5B6-0BC6-41D2-8E14-1989918827C2}</a:tableStyleId>
              </a:tblPr>
              <a:tblGrid>
                <a:gridCol w="5143500"/>
                <a:gridCol w="5143500"/>
              </a:tblGrid>
              <a:tr h="381000">
                <a:tc>
                  <a:txBody>
                    <a:bodyPr/>
                    <a:lstStyle/>
                    <a:p>
                      <a:pPr indent="0" lvl="0" marL="0" rtl="0" algn="l">
                        <a:spcBef>
                          <a:spcPts val="0"/>
                        </a:spcBef>
                        <a:spcAft>
                          <a:spcPts val="0"/>
                        </a:spcAft>
                        <a:buNone/>
                      </a:pPr>
                      <a:r>
                        <a:rPr lang="en-US"/>
                        <a:t>MODEL</a:t>
                      </a:r>
                      <a:endParaRPr/>
                    </a:p>
                  </a:txBody>
                  <a:tcPr marT="91425" marB="91425" marR="91425" marL="91425"/>
                </a:tc>
                <a:tc>
                  <a:txBody>
                    <a:bodyPr/>
                    <a:lstStyle/>
                    <a:p>
                      <a:pPr indent="0" lvl="0" marL="0" rtl="0" algn="l">
                        <a:spcBef>
                          <a:spcPts val="0"/>
                        </a:spcBef>
                        <a:spcAft>
                          <a:spcPts val="0"/>
                        </a:spcAft>
                        <a:buNone/>
                      </a:pPr>
                      <a:r>
                        <a:rPr lang="en-US"/>
                        <a:t>ACCURACY </a:t>
                      </a:r>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Word embedding from distillbert and then applying classical machine learning algorithm like Logistic Regression, SVM, Random Forest.</a:t>
                      </a:r>
                      <a:endParaRPr/>
                    </a:p>
                  </a:txBody>
                  <a:tcPr marT="91425" marB="91425" marR="91425" marL="91425"/>
                </a:tc>
                <a:tc>
                  <a:txBody>
                    <a:bodyPr/>
                    <a:lstStyle/>
                    <a:p>
                      <a:pPr indent="0" lvl="0" marL="0" rtl="0" algn="l">
                        <a:spcBef>
                          <a:spcPts val="0"/>
                        </a:spcBef>
                        <a:spcAft>
                          <a:spcPts val="0"/>
                        </a:spcAft>
                        <a:buNone/>
                      </a:pPr>
                      <a:r>
                        <a:rPr lang="en-US" sz="1100"/>
                        <a:t>Logistic</a:t>
                      </a:r>
                      <a:r>
                        <a:rPr lang="en-US" sz="1100"/>
                        <a:t> Regression : 87.25</a:t>
                      </a:r>
                      <a:endParaRPr sz="1100"/>
                    </a:p>
                    <a:p>
                      <a:pPr indent="0" lvl="0" marL="0" rtl="0" algn="l">
                        <a:spcBef>
                          <a:spcPts val="0"/>
                        </a:spcBef>
                        <a:spcAft>
                          <a:spcPts val="0"/>
                        </a:spcAft>
                        <a:buNone/>
                      </a:pPr>
                      <a:r>
                        <a:rPr lang="en-US" sz="1100"/>
                        <a:t>Random Forest : 86.36</a:t>
                      </a:r>
                      <a:endParaRPr sz="1100"/>
                    </a:p>
                    <a:p>
                      <a:pPr indent="0" lvl="0" marL="0" rtl="0" algn="l">
                        <a:spcBef>
                          <a:spcPts val="0"/>
                        </a:spcBef>
                        <a:spcAft>
                          <a:spcPts val="0"/>
                        </a:spcAft>
                        <a:buNone/>
                      </a:pPr>
                      <a:r>
                        <a:rPr lang="en-US" sz="1100"/>
                        <a:t>Naive </a:t>
                      </a:r>
                      <a:r>
                        <a:rPr lang="en-US" sz="1100"/>
                        <a:t>Bayes</a:t>
                      </a:r>
                      <a:r>
                        <a:rPr lang="en-US" sz="1100"/>
                        <a:t> : 81.32</a:t>
                      </a:r>
                      <a:endParaRPr sz="1100"/>
                    </a:p>
                    <a:p>
                      <a:pPr indent="0" lvl="0" marL="0" rtl="0" algn="l">
                        <a:spcBef>
                          <a:spcPts val="0"/>
                        </a:spcBef>
                        <a:spcAft>
                          <a:spcPts val="0"/>
                        </a:spcAft>
                        <a:buNone/>
                      </a:pPr>
                      <a:r>
                        <a:rPr lang="en-US" sz="1100"/>
                        <a:t>SVM : 87.75</a:t>
                      </a:r>
                      <a:endParaRPr sz="1100"/>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Adding classification head over distillbert and only tuning the classification head.</a:t>
                      </a:r>
                      <a:endParaRPr/>
                    </a:p>
                  </a:txBody>
                  <a:tcPr marT="91425" marB="91425" marR="91425" marL="91425"/>
                </a:tc>
                <a:tc>
                  <a:txBody>
                    <a:bodyPr/>
                    <a:lstStyle/>
                    <a:p>
                      <a:pPr indent="0" lvl="0" marL="0" rtl="0" algn="l">
                        <a:spcBef>
                          <a:spcPts val="0"/>
                        </a:spcBef>
                        <a:spcAft>
                          <a:spcPts val="0"/>
                        </a:spcAft>
                        <a:buNone/>
                      </a:pPr>
                      <a:r>
                        <a:rPr lang="en-US" sz="1200"/>
                        <a:t>85.8</a:t>
                      </a:r>
                      <a:endParaRPr sz="1200"/>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Fine tune BERT with classification head on.</a:t>
                      </a:r>
                      <a:endParaRPr/>
                    </a:p>
                  </a:txBody>
                  <a:tcPr marT="91425" marB="91425" marR="91425" marL="91425"/>
                </a:tc>
                <a:tc>
                  <a:txBody>
                    <a:bodyPr/>
                    <a:lstStyle/>
                    <a:p>
                      <a:pPr indent="0" lvl="0" marL="0" rtl="0" algn="l">
                        <a:spcBef>
                          <a:spcPts val="0"/>
                        </a:spcBef>
                        <a:spcAft>
                          <a:spcPts val="0"/>
                        </a:spcAft>
                        <a:buNone/>
                      </a:pPr>
                      <a:r>
                        <a:rPr lang="en-US" sz="1100"/>
                        <a:t>94.5</a:t>
                      </a:r>
                      <a:endParaRPr sz="1100"/>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ROBERTa</a:t>
                      </a:r>
                      <a:endParaRPr/>
                    </a:p>
                  </a:txBody>
                  <a:tcPr marT="91425" marB="91425" marR="91425" marL="91425"/>
                </a:tc>
                <a:tc>
                  <a:txBody>
                    <a:bodyPr/>
                    <a:lstStyle/>
                    <a:p>
                      <a:pPr indent="0" lvl="0" marL="0" rtl="0" algn="l">
                        <a:spcBef>
                          <a:spcPts val="0"/>
                        </a:spcBef>
                        <a:spcAft>
                          <a:spcPts val="0"/>
                        </a:spcAft>
                        <a:buNone/>
                      </a:pPr>
                      <a:r>
                        <a:rPr lang="en-US"/>
                        <a:t>88.7</a:t>
                      </a:r>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SetFit</a:t>
                      </a:r>
                      <a:endParaRPr/>
                    </a:p>
                  </a:txBody>
                  <a:tcPr marT="91425" marB="91425" marR="91425" marL="91425"/>
                </a:tc>
                <a:tc>
                  <a:txBody>
                    <a:bodyPr/>
                    <a:lstStyle/>
                    <a:p>
                      <a:pPr indent="0" lvl="0" marL="0" rtl="0" algn="l">
                        <a:spcBef>
                          <a:spcPts val="0"/>
                        </a:spcBef>
                        <a:spcAft>
                          <a:spcPts val="0"/>
                        </a:spcAft>
                        <a:buNone/>
                      </a:pPr>
                      <a:r>
                        <a:rPr lang="en-US" sz="1100"/>
                        <a:t>96.4</a:t>
                      </a:r>
                      <a:endParaRPr sz="1100"/>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GPT2</a:t>
                      </a:r>
                      <a:endParaRPr/>
                    </a:p>
                  </a:txBody>
                  <a:tcPr marT="91425" marB="91425" marR="91425" marL="91425"/>
                </a:tc>
                <a:tc>
                  <a:txBody>
                    <a:bodyPr/>
                    <a:lstStyle/>
                    <a:p>
                      <a:pPr indent="0" lvl="0" marL="0" rtl="0" algn="l">
                        <a:spcBef>
                          <a:spcPts val="0"/>
                        </a:spcBef>
                        <a:spcAft>
                          <a:spcPts val="0"/>
                        </a:spcAft>
                        <a:buNone/>
                      </a:pPr>
                      <a:r>
                        <a:rPr lang="en-US" sz="1100"/>
                        <a:t>95</a:t>
                      </a:r>
                      <a:endParaRPr sz="1100"/>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6"/>
          <p:cNvSpPr txBox="1"/>
          <p:nvPr>
            <p:ph idx="12" type="sldNum"/>
          </p:nvPr>
        </p:nvSpPr>
        <p:spPr>
          <a:xfrm>
            <a:off x="9517800" y="657387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3" name="Google Shape;263;p36"/>
          <p:cNvSpPr txBox="1"/>
          <p:nvPr>
            <p:ph type="title"/>
          </p:nvPr>
        </p:nvSpPr>
        <p:spPr>
          <a:xfrm>
            <a:off x="336000" y="99000"/>
            <a:ext cx="11520000" cy="5355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00"/>
              </a:buClr>
              <a:buSzPts val="3200"/>
              <a:buFont typeface="Calibri"/>
              <a:buNone/>
            </a:pPr>
            <a:r>
              <a:rPr lang="en-US">
                <a:solidFill>
                  <a:srgbClr val="000000"/>
                </a:solidFill>
              </a:rPr>
              <a:t>Error Analysis</a:t>
            </a:r>
            <a:endParaRPr/>
          </a:p>
        </p:txBody>
      </p:sp>
      <p:graphicFrame>
        <p:nvGraphicFramePr>
          <p:cNvPr id="264" name="Google Shape;264;p36"/>
          <p:cNvGraphicFramePr/>
          <p:nvPr/>
        </p:nvGraphicFramePr>
        <p:xfrm>
          <a:off x="2228950" y="969675"/>
          <a:ext cx="3000000" cy="3000000"/>
        </p:xfrm>
        <a:graphic>
          <a:graphicData uri="http://schemas.openxmlformats.org/drawingml/2006/table">
            <a:tbl>
              <a:tblPr>
                <a:noFill/>
                <a:tableStyleId>{6D2CFA2D-E71C-4A79-A15F-722EF2C0059E}</a:tableStyleId>
              </a:tblPr>
              <a:tblGrid>
                <a:gridCol w="1787875"/>
                <a:gridCol w="1787875"/>
                <a:gridCol w="1787875"/>
                <a:gridCol w="1787875"/>
              </a:tblGrid>
              <a:tr h="513350">
                <a:tc>
                  <a:txBody>
                    <a:bodyPr/>
                    <a:lstStyle/>
                    <a:p>
                      <a:pPr indent="0" lvl="0" marL="0" rtl="0" algn="l">
                        <a:spcBef>
                          <a:spcPts val="0"/>
                        </a:spcBef>
                        <a:spcAft>
                          <a:spcPts val="0"/>
                        </a:spcAft>
                        <a:buNone/>
                      </a:pPr>
                      <a:r>
                        <a:rPr b="1" lang="en-US" sz="1100"/>
                        <a:t>Text</a:t>
                      </a:r>
                      <a:endParaRPr b="1" sz="1100"/>
                    </a:p>
                  </a:txBody>
                  <a:tcPr marT="63500" marB="63500" marR="63500" marL="63500"/>
                </a:tc>
                <a:tc>
                  <a:txBody>
                    <a:bodyPr/>
                    <a:lstStyle/>
                    <a:p>
                      <a:pPr indent="0" lvl="0" marL="0" rtl="0" algn="l">
                        <a:spcBef>
                          <a:spcPts val="0"/>
                        </a:spcBef>
                        <a:spcAft>
                          <a:spcPts val="0"/>
                        </a:spcAft>
                        <a:buNone/>
                      </a:pPr>
                      <a:r>
                        <a:rPr b="1" lang="en-US" sz="1100"/>
                        <a:t>Correct Classification</a:t>
                      </a:r>
                      <a:endParaRPr b="1" sz="1100"/>
                    </a:p>
                  </a:txBody>
                  <a:tcPr marT="63500" marB="63500" marR="63500" marL="63500"/>
                </a:tc>
                <a:tc>
                  <a:txBody>
                    <a:bodyPr/>
                    <a:lstStyle/>
                    <a:p>
                      <a:pPr indent="0" lvl="0" marL="0" rtl="0" algn="l">
                        <a:spcBef>
                          <a:spcPts val="0"/>
                        </a:spcBef>
                        <a:spcAft>
                          <a:spcPts val="0"/>
                        </a:spcAft>
                        <a:buNone/>
                      </a:pPr>
                      <a:r>
                        <a:rPr b="1" lang="en-US" sz="1100"/>
                        <a:t>Predicted Classification</a:t>
                      </a:r>
                      <a:endParaRPr b="1" sz="1100"/>
                    </a:p>
                  </a:txBody>
                  <a:tcPr marT="63500" marB="63500" marR="63500" marL="63500"/>
                </a:tc>
                <a:tc>
                  <a:txBody>
                    <a:bodyPr/>
                    <a:lstStyle/>
                    <a:p>
                      <a:pPr indent="0" lvl="0" marL="0" rtl="0" algn="l">
                        <a:spcBef>
                          <a:spcPts val="0"/>
                        </a:spcBef>
                        <a:spcAft>
                          <a:spcPts val="0"/>
                        </a:spcAft>
                        <a:buNone/>
                      </a:pPr>
                      <a:r>
                        <a:rPr b="1" lang="en-US" sz="1100"/>
                        <a:t>Reason</a:t>
                      </a:r>
                      <a:endParaRPr b="1" sz="1100"/>
                    </a:p>
                  </a:txBody>
                  <a:tcPr marT="63500" marB="63500" marR="63500" marL="63500"/>
                </a:tc>
              </a:tr>
              <a:tr h="2011800">
                <a:tc>
                  <a:txBody>
                    <a:bodyPr/>
                    <a:lstStyle/>
                    <a:p>
                      <a:pPr indent="0" lvl="0" marL="0" rtl="0" algn="l">
                        <a:spcBef>
                          <a:spcPts val="0"/>
                        </a:spcBef>
                        <a:spcAft>
                          <a:spcPts val="0"/>
                        </a:spcAft>
                        <a:buNone/>
                      </a:pPr>
                      <a:r>
                        <a:rPr lang="en-US" sz="1100"/>
                        <a:t>West Indian Cricket Board approaches Mel McLaughlin to coach team.</a:t>
                      </a:r>
                      <a:endParaRPr sz="1100"/>
                    </a:p>
                  </a:txBody>
                  <a:tcPr marT="63500" marB="63500" marR="63500" marL="63500"/>
                </a:tc>
                <a:tc>
                  <a:txBody>
                    <a:bodyPr/>
                    <a:lstStyle/>
                    <a:p>
                      <a:pPr indent="0" lvl="0" marL="0" rtl="0" algn="l">
                        <a:spcBef>
                          <a:spcPts val="0"/>
                        </a:spcBef>
                        <a:spcAft>
                          <a:spcPts val="0"/>
                        </a:spcAft>
                        <a:buNone/>
                      </a:pPr>
                      <a:r>
                        <a:rPr lang="en-US" sz="1100"/>
                        <a:t>Sarcastic</a:t>
                      </a:r>
                      <a:endParaRPr sz="1100"/>
                    </a:p>
                  </a:txBody>
                  <a:tcPr marT="63500" marB="63500" marR="63500" marL="63500"/>
                </a:tc>
                <a:tc>
                  <a:txBody>
                    <a:bodyPr/>
                    <a:lstStyle/>
                    <a:p>
                      <a:pPr indent="0" lvl="0" marL="0" rtl="0" algn="l">
                        <a:spcBef>
                          <a:spcPts val="0"/>
                        </a:spcBef>
                        <a:spcAft>
                          <a:spcPts val="0"/>
                        </a:spcAft>
                        <a:buNone/>
                      </a:pPr>
                      <a:r>
                        <a:rPr lang="en-US" sz="1100"/>
                        <a:t>Not Sarcastic</a:t>
                      </a:r>
                      <a:endParaRPr sz="1100"/>
                    </a:p>
                  </a:txBody>
                  <a:tcPr marT="63500" marB="63500" marR="63500" marL="63500"/>
                </a:tc>
                <a:tc>
                  <a:txBody>
                    <a:bodyPr/>
                    <a:lstStyle/>
                    <a:p>
                      <a:pPr indent="0" lvl="0" marL="0" rtl="0" algn="l">
                        <a:spcBef>
                          <a:spcPts val="0"/>
                        </a:spcBef>
                        <a:spcAft>
                          <a:spcPts val="0"/>
                        </a:spcAft>
                        <a:buNone/>
                      </a:pPr>
                      <a:r>
                        <a:rPr lang="en-US" sz="1100"/>
                        <a:t>Mel McLaughlin is a cricket news reporter, West Indies made this remark because their current coach is not delivering as expected. So they are comparing their current coach with a reporter.</a:t>
                      </a:r>
                      <a:endParaRPr sz="1100"/>
                    </a:p>
                  </a:txBody>
                  <a:tcPr marT="63500" marB="63500" marR="63500" marL="63500"/>
                </a:tc>
              </a:tr>
              <a:tr h="887950">
                <a:tc>
                  <a:txBody>
                    <a:bodyPr/>
                    <a:lstStyle/>
                    <a:p>
                      <a:pPr indent="0" lvl="0" marL="0" rtl="0" algn="l">
                        <a:spcBef>
                          <a:spcPts val="0"/>
                        </a:spcBef>
                        <a:spcAft>
                          <a:spcPts val="0"/>
                        </a:spcAft>
                        <a:buNone/>
                      </a:pPr>
                      <a:r>
                        <a:rPr lang="en-US" sz="1100"/>
                        <a:t>SpiceJet cancels Kabul flights following spate of attacks at airport there.</a:t>
                      </a:r>
                      <a:endParaRPr sz="1100"/>
                    </a:p>
                  </a:txBody>
                  <a:tcPr marT="63500" marB="63500" marR="63500" marL="63500"/>
                </a:tc>
                <a:tc>
                  <a:txBody>
                    <a:bodyPr/>
                    <a:lstStyle/>
                    <a:p>
                      <a:pPr indent="0" lvl="0" marL="0" rtl="0" algn="l">
                        <a:spcBef>
                          <a:spcPts val="0"/>
                        </a:spcBef>
                        <a:spcAft>
                          <a:spcPts val="0"/>
                        </a:spcAft>
                        <a:buNone/>
                      </a:pPr>
                      <a:r>
                        <a:rPr lang="en-US" sz="1100"/>
                        <a:t>Non Sarcastic</a:t>
                      </a:r>
                      <a:endParaRPr sz="1100"/>
                    </a:p>
                  </a:txBody>
                  <a:tcPr marT="63500" marB="63500" marR="63500" marL="63500"/>
                </a:tc>
                <a:tc>
                  <a:txBody>
                    <a:bodyPr/>
                    <a:lstStyle/>
                    <a:p>
                      <a:pPr indent="0" lvl="0" marL="0" rtl="0" algn="l">
                        <a:spcBef>
                          <a:spcPts val="0"/>
                        </a:spcBef>
                        <a:spcAft>
                          <a:spcPts val="0"/>
                        </a:spcAft>
                        <a:buNone/>
                      </a:pPr>
                      <a:r>
                        <a:rPr lang="en-US" sz="1100"/>
                        <a:t>Sarcastic</a:t>
                      </a:r>
                      <a:endParaRPr sz="1100"/>
                    </a:p>
                  </a:txBody>
                  <a:tcPr marT="63500" marB="63500" marR="63500" marL="63500"/>
                </a:tc>
                <a:tc>
                  <a:txBody>
                    <a:bodyPr/>
                    <a:lstStyle/>
                    <a:p>
                      <a:pPr indent="0" lvl="0" marL="0" rtl="0" algn="l">
                        <a:spcBef>
                          <a:spcPts val="0"/>
                        </a:spcBef>
                        <a:spcAft>
                          <a:spcPts val="0"/>
                        </a:spcAft>
                        <a:buNone/>
                      </a:pPr>
                      <a:r>
                        <a:rPr lang="en-US" sz="1100"/>
                        <a:t>There is no sarcasm in this news headline.</a:t>
                      </a:r>
                      <a:endParaRPr sz="1100"/>
                    </a:p>
                  </a:txBody>
                  <a:tcPr marT="63500" marB="63500" marR="63500" marL="63500"/>
                </a:tc>
              </a:tr>
              <a:tr h="1262575">
                <a:tc>
                  <a:txBody>
                    <a:bodyPr/>
                    <a:lstStyle/>
                    <a:p>
                      <a:pPr indent="0" lvl="0" marL="0" rtl="0" algn="l">
                        <a:spcBef>
                          <a:spcPts val="0"/>
                        </a:spcBef>
                        <a:spcAft>
                          <a:spcPts val="0"/>
                        </a:spcAft>
                        <a:buNone/>
                      </a:pPr>
                      <a:r>
                        <a:rPr lang="en-US" sz="1100"/>
                        <a:t>Taj Hotels to buy 53% of stakes of Tihar.</a:t>
                      </a:r>
                      <a:endParaRPr sz="1100"/>
                    </a:p>
                  </a:txBody>
                  <a:tcPr marT="63500" marB="63500" marR="63500" marL="63500"/>
                </a:tc>
                <a:tc>
                  <a:txBody>
                    <a:bodyPr/>
                    <a:lstStyle/>
                    <a:p>
                      <a:pPr indent="0" lvl="0" marL="0" rtl="0" algn="l">
                        <a:spcBef>
                          <a:spcPts val="0"/>
                        </a:spcBef>
                        <a:spcAft>
                          <a:spcPts val="0"/>
                        </a:spcAft>
                        <a:buNone/>
                      </a:pPr>
                      <a:r>
                        <a:rPr lang="en-US" sz="1100"/>
                        <a:t>Sarcastic</a:t>
                      </a:r>
                      <a:endParaRPr sz="1100"/>
                    </a:p>
                  </a:txBody>
                  <a:tcPr marT="63500" marB="63500" marR="63500" marL="63500"/>
                </a:tc>
                <a:tc>
                  <a:txBody>
                    <a:bodyPr/>
                    <a:lstStyle/>
                    <a:p>
                      <a:pPr indent="0" lvl="0" marL="0" rtl="0" algn="l">
                        <a:spcBef>
                          <a:spcPts val="0"/>
                        </a:spcBef>
                        <a:spcAft>
                          <a:spcPts val="0"/>
                        </a:spcAft>
                        <a:buNone/>
                      </a:pPr>
                      <a:r>
                        <a:rPr lang="en-US" sz="1100"/>
                        <a:t>Non Sarcastic</a:t>
                      </a:r>
                      <a:endParaRPr sz="1100"/>
                    </a:p>
                  </a:txBody>
                  <a:tcPr marT="63500" marB="63500" marR="63500" marL="63500"/>
                </a:tc>
                <a:tc>
                  <a:txBody>
                    <a:bodyPr/>
                    <a:lstStyle/>
                    <a:p>
                      <a:pPr indent="0" lvl="0" marL="0" rtl="0" algn="l">
                        <a:spcBef>
                          <a:spcPts val="0"/>
                        </a:spcBef>
                        <a:spcAft>
                          <a:spcPts val="0"/>
                        </a:spcAft>
                        <a:buNone/>
                      </a:pPr>
                      <a:r>
                        <a:rPr lang="en-US" sz="1100"/>
                        <a:t>This headline is sarcastic because Tihar is a Jail and it doesn’t make sense for a hotel to buy a jail.</a:t>
                      </a:r>
                      <a:endParaRPr sz="1100"/>
                    </a:p>
                  </a:txBody>
                  <a:tcPr marT="63500" marB="63500" marR="63500" marL="6350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7"/>
          <p:cNvSpPr txBox="1"/>
          <p:nvPr>
            <p:ph idx="12" type="sldNum"/>
          </p:nvPr>
        </p:nvSpPr>
        <p:spPr>
          <a:xfrm>
            <a:off x="9517800" y="657387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0" name="Google Shape;270;p37"/>
          <p:cNvSpPr txBox="1"/>
          <p:nvPr>
            <p:ph type="title"/>
          </p:nvPr>
        </p:nvSpPr>
        <p:spPr>
          <a:xfrm>
            <a:off x="336000" y="99000"/>
            <a:ext cx="11520000" cy="5355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00"/>
              </a:buClr>
              <a:buSzPts val="3200"/>
              <a:buFont typeface="Calibri"/>
              <a:buNone/>
            </a:pPr>
            <a:r>
              <a:rPr lang="en-US">
                <a:solidFill>
                  <a:srgbClr val="000000"/>
                </a:solidFill>
              </a:rPr>
              <a:t>Code</a:t>
            </a:r>
            <a:endParaRPr/>
          </a:p>
        </p:txBody>
      </p:sp>
      <p:sp>
        <p:nvSpPr>
          <p:cNvPr id="271" name="Google Shape;271;p37"/>
          <p:cNvSpPr txBox="1"/>
          <p:nvPr/>
        </p:nvSpPr>
        <p:spPr>
          <a:xfrm>
            <a:off x="1179050" y="1244675"/>
            <a:ext cx="10357200" cy="48639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SzPts val="1900"/>
              <a:buFont typeface="Calibri"/>
              <a:buChar char="●"/>
            </a:pPr>
            <a:r>
              <a:rPr lang="en-US" sz="1900">
                <a:solidFill>
                  <a:schemeClr val="dk1"/>
                </a:solidFill>
                <a:latin typeface="Calibri"/>
                <a:ea typeface="Calibri"/>
                <a:cs typeface="Calibri"/>
                <a:sym typeface="Calibri"/>
              </a:rPr>
              <a:t>GPT2 on EMOFF_MEME dataset: </a:t>
            </a:r>
            <a:r>
              <a:rPr lang="en-US" sz="1900" u="sng">
                <a:solidFill>
                  <a:schemeClr val="hlink"/>
                </a:solidFill>
                <a:latin typeface="Calibri"/>
                <a:ea typeface="Calibri"/>
                <a:cs typeface="Calibri"/>
                <a:sym typeface="Calibri"/>
                <a:hlinkClick r:id="rId3"/>
              </a:rPr>
              <a:t>https://www.kaggle.com/code/siddhantagarwal4583/fork-of-gpt2-fine-tuning/edit</a:t>
            </a:r>
            <a:endParaRPr sz="1900">
              <a:solidFill>
                <a:schemeClr val="dk1"/>
              </a:solidFill>
              <a:latin typeface="Calibri"/>
              <a:ea typeface="Calibri"/>
              <a:cs typeface="Calibri"/>
              <a:sym typeface="Calibri"/>
            </a:endParaRPr>
          </a:p>
          <a:p>
            <a:pPr indent="-349250" lvl="0" marL="457200" rtl="0" algn="l">
              <a:spcBef>
                <a:spcPts val="0"/>
              </a:spcBef>
              <a:spcAft>
                <a:spcPts val="0"/>
              </a:spcAft>
              <a:buSzPts val="1900"/>
              <a:buFont typeface="Calibri"/>
              <a:buChar char="●"/>
            </a:pPr>
            <a:r>
              <a:rPr lang="en-US" sz="1900">
                <a:solidFill>
                  <a:schemeClr val="dk1"/>
                </a:solidFill>
                <a:latin typeface="Calibri"/>
                <a:ea typeface="Calibri"/>
                <a:cs typeface="Calibri"/>
                <a:sym typeface="Calibri"/>
              </a:rPr>
              <a:t>RoBERTa on sarcasm-detection-dataset: </a:t>
            </a:r>
            <a:r>
              <a:rPr lang="en-US" sz="1900" u="sng">
                <a:solidFill>
                  <a:schemeClr val="hlink"/>
                </a:solidFill>
                <a:latin typeface="Calibri"/>
                <a:ea typeface="Calibri"/>
                <a:cs typeface="Calibri"/>
                <a:sym typeface="Calibri"/>
                <a:hlinkClick r:id="rId4"/>
              </a:rPr>
              <a:t>https://www.kaggle.com/code/siddhantagarwal4583/roberta-fine-tuning-3</a:t>
            </a:r>
            <a:endParaRPr sz="1900">
              <a:solidFill>
                <a:schemeClr val="dk1"/>
              </a:solidFill>
              <a:latin typeface="Calibri"/>
              <a:ea typeface="Calibri"/>
              <a:cs typeface="Calibri"/>
              <a:sym typeface="Calibri"/>
            </a:endParaRPr>
          </a:p>
          <a:p>
            <a:pPr indent="-349250" lvl="0" marL="457200" rtl="0" algn="l">
              <a:spcBef>
                <a:spcPts val="0"/>
              </a:spcBef>
              <a:spcAft>
                <a:spcPts val="0"/>
              </a:spcAft>
              <a:buSzPts val="1900"/>
              <a:buFont typeface="Calibri"/>
              <a:buChar char="●"/>
            </a:pPr>
            <a:r>
              <a:rPr lang="en-US" sz="1900">
                <a:solidFill>
                  <a:schemeClr val="dk1"/>
                </a:solidFill>
                <a:latin typeface="Calibri"/>
                <a:ea typeface="Calibri"/>
                <a:cs typeface="Calibri"/>
                <a:sym typeface="Calibri"/>
              </a:rPr>
              <a:t>GPT2 on sarcasm-detection-dataset: </a:t>
            </a:r>
            <a:r>
              <a:rPr lang="en-US" sz="1900" u="sng">
                <a:solidFill>
                  <a:schemeClr val="hlink"/>
                </a:solidFill>
                <a:latin typeface="Calibri"/>
                <a:ea typeface="Calibri"/>
                <a:cs typeface="Calibri"/>
                <a:sym typeface="Calibri"/>
                <a:hlinkClick r:id="rId5"/>
              </a:rPr>
              <a:t>https://www.kaggle.com/code/siddhantagarwal4583/gpt2-fine-tuning</a:t>
            </a:r>
            <a:endParaRPr sz="1900">
              <a:solidFill>
                <a:schemeClr val="dk1"/>
              </a:solidFill>
              <a:latin typeface="Calibri"/>
              <a:ea typeface="Calibri"/>
              <a:cs typeface="Calibri"/>
              <a:sym typeface="Calibri"/>
            </a:endParaRPr>
          </a:p>
          <a:p>
            <a:pPr indent="-349250" lvl="0" marL="457200" rtl="0" algn="l">
              <a:spcBef>
                <a:spcPts val="0"/>
              </a:spcBef>
              <a:spcAft>
                <a:spcPts val="0"/>
              </a:spcAft>
              <a:buSzPts val="1900"/>
              <a:buFont typeface="Calibri"/>
              <a:buChar char="●"/>
            </a:pPr>
            <a:r>
              <a:rPr lang="en-US" sz="1900">
                <a:solidFill>
                  <a:schemeClr val="dk1"/>
                </a:solidFill>
                <a:latin typeface="Calibri"/>
                <a:ea typeface="Calibri"/>
                <a:cs typeface="Calibri"/>
                <a:sym typeface="Calibri"/>
              </a:rPr>
              <a:t>SetFit on sarcasm-detection-dataset: </a:t>
            </a:r>
            <a:r>
              <a:rPr lang="en-US" sz="1900" u="sng">
                <a:solidFill>
                  <a:schemeClr val="hlink"/>
                </a:solidFill>
                <a:latin typeface="Calibri"/>
                <a:ea typeface="Calibri"/>
                <a:cs typeface="Calibri"/>
                <a:sym typeface="Calibri"/>
                <a:hlinkClick r:id="rId6"/>
              </a:rPr>
              <a:t>https://colab.research.google.com/drive/1FLnP5KQVmU9fer1hekkw41A7e_5ZJOID</a:t>
            </a:r>
            <a:endParaRPr sz="1900">
              <a:solidFill>
                <a:schemeClr val="dk1"/>
              </a:solidFill>
              <a:latin typeface="Calibri"/>
              <a:ea typeface="Calibri"/>
              <a:cs typeface="Calibri"/>
              <a:sym typeface="Calibri"/>
            </a:endParaRPr>
          </a:p>
          <a:p>
            <a:pPr indent="-349250" lvl="0" marL="457200" rtl="0" algn="l">
              <a:spcBef>
                <a:spcPts val="0"/>
              </a:spcBef>
              <a:spcAft>
                <a:spcPts val="0"/>
              </a:spcAft>
              <a:buSzPts val="1900"/>
              <a:buFont typeface="Calibri"/>
              <a:buChar char="●"/>
            </a:pPr>
            <a:r>
              <a:rPr lang="en-US" sz="1900">
                <a:solidFill>
                  <a:schemeClr val="dk1"/>
                </a:solidFill>
                <a:latin typeface="Calibri"/>
                <a:ea typeface="Calibri"/>
                <a:cs typeface="Calibri"/>
                <a:sym typeface="Calibri"/>
              </a:rPr>
              <a:t>DistilBERT with classification head on:  </a:t>
            </a:r>
            <a:r>
              <a:rPr lang="en-US" sz="1900" u="sng">
                <a:solidFill>
                  <a:schemeClr val="hlink"/>
                </a:solidFill>
                <a:latin typeface="Calibri"/>
                <a:ea typeface="Calibri"/>
                <a:cs typeface="Calibri"/>
                <a:sym typeface="Calibri"/>
                <a:hlinkClick r:id="rId7"/>
              </a:rPr>
              <a:t>https://colab.research.google.com/drive/1GtnuA-1VTyn5kKrTAjjPntI9oX1r2qT_?usp=sharing</a:t>
            </a:r>
            <a:endParaRPr sz="1900">
              <a:solidFill>
                <a:schemeClr val="dk1"/>
              </a:solidFill>
              <a:latin typeface="Calibri"/>
              <a:ea typeface="Calibri"/>
              <a:cs typeface="Calibri"/>
              <a:sym typeface="Calibri"/>
            </a:endParaRPr>
          </a:p>
          <a:p>
            <a:pPr indent="-349250" lvl="0" marL="457200" rtl="0" algn="l">
              <a:spcBef>
                <a:spcPts val="0"/>
              </a:spcBef>
              <a:spcAft>
                <a:spcPts val="0"/>
              </a:spcAft>
              <a:buSzPts val="1900"/>
              <a:buFont typeface="Calibri"/>
              <a:buChar char="●"/>
            </a:pPr>
            <a:r>
              <a:rPr lang="en-US" sz="1900">
                <a:solidFill>
                  <a:schemeClr val="dk1"/>
                </a:solidFill>
                <a:latin typeface="Calibri"/>
                <a:ea typeface="Calibri"/>
                <a:cs typeface="Calibri"/>
                <a:sym typeface="Calibri"/>
              </a:rPr>
              <a:t>BERT fine Tuned: </a:t>
            </a:r>
            <a:r>
              <a:rPr lang="en-US" sz="1900" u="sng">
                <a:solidFill>
                  <a:schemeClr val="hlink"/>
                </a:solidFill>
                <a:latin typeface="Calibri"/>
                <a:ea typeface="Calibri"/>
                <a:cs typeface="Calibri"/>
                <a:sym typeface="Calibri"/>
                <a:hlinkClick r:id="rId8"/>
              </a:rPr>
              <a:t>https://colab.research.google.com/drive/1_fE-CiLerV_Gp8dQmWriHlCEIRTq7zca?usp=sharing</a:t>
            </a:r>
            <a:endParaRPr sz="1900">
              <a:solidFill>
                <a:schemeClr val="dk1"/>
              </a:solidFill>
              <a:latin typeface="Calibri"/>
              <a:ea typeface="Calibri"/>
              <a:cs typeface="Calibri"/>
              <a:sym typeface="Calibri"/>
            </a:endParaRPr>
          </a:p>
          <a:p>
            <a:pPr indent="-349250" lvl="0" marL="457200" rtl="0" algn="l">
              <a:spcBef>
                <a:spcPts val="0"/>
              </a:spcBef>
              <a:spcAft>
                <a:spcPts val="0"/>
              </a:spcAft>
              <a:buSzPts val="1900"/>
              <a:buFont typeface="Calibri"/>
              <a:buChar char="●"/>
            </a:pPr>
            <a:r>
              <a:rPr lang="en-US" sz="1900">
                <a:solidFill>
                  <a:schemeClr val="dk1"/>
                </a:solidFill>
                <a:latin typeface="Calibri"/>
                <a:ea typeface="Calibri"/>
                <a:cs typeface="Calibri"/>
                <a:sym typeface="Calibri"/>
              </a:rPr>
              <a:t>DistilBERT as embedding: </a:t>
            </a:r>
            <a:r>
              <a:rPr lang="en-US" sz="1900" u="sng">
                <a:solidFill>
                  <a:schemeClr val="hlink"/>
                </a:solidFill>
                <a:latin typeface="Calibri"/>
                <a:ea typeface="Calibri"/>
                <a:cs typeface="Calibri"/>
                <a:sym typeface="Calibri"/>
                <a:hlinkClick r:id="rId9"/>
              </a:rPr>
              <a:t>https://colab.research.google.com/drive/1uU9VM4W7_WZeS5b2KbaGK1rZz9rSCPvk?usp=sharing</a:t>
            </a:r>
            <a:endParaRPr sz="1900">
              <a:solidFill>
                <a:schemeClr val="dk1"/>
              </a:solidFill>
              <a:latin typeface="Calibri"/>
              <a:ea typeface="Calibri"/>
              <a:cs typeface="Calibri"/>
              <a:sym typeface="Calibri"/>
            </a:endParaRPr>
          </a:p>
          <a:p>
            <a:pPr indent="-349250" lvl="0" marL="457200" rtl="0" algn="l">
              <a:spcBef>
                <a:spcPts val="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Llama 2 on sarcasm-detection-dataset:</a:t>
            </a:r>
            <a:endParaRPr sz="1900">
              <a:solidFill>
                <a:schemeClr val="dk1"/>
              </a:solidFill>
              <a:latin typeface="Calibri"/>
              <a:ea typeface="Calibri"/>
              <a:cs typeface="Calibri"/>
              <a:sym typeface="Calibri"/>
            </a:endParaRPr>
          </a:p>
          <a:p>
            <a:pPr indent="0" lvl="0" marL="457200" rtl="0" algn="l">
              <a:spcBef>
                <a:spcPts val="0"/>
              </a:spcBef>
              <a:spcAft>
                <a:spcPts val="0"/>
              </a:spcAft>
              <a:buNone/>
            </a:pPr>
            <a:r>
              <a:rPr lang="en-US" sz="1900" u="sng">
                <a:solidFill>
                  <a:schemeClr val="hlink"/>
                </a:solidFill>
                <a:latin typeface="Calibri"/>
                <a:ea typeface="Calibri"/>
                <a:cs typeface="Calibri"/>
                <a:sym typeface="Calibri"/>
                <a:hlinkClick r:id="rId10"/>
              </a:rPr>
              <a:t>https://colab.research.google.com/drive/1LT9lxKAoQcH538xTfYwkZem0bl8Aijgw?usp=sharing</a:t>
            </a:r>
            <a:endParaRPr sz="15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8"/>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lang="en-US"/>
              <a:t>Application(s)</a:t>
            </a:r>
            <a:endParaRPr/>
          </a:p>
        </p:txBody>
      </p:sp>
      <p:sp>
        <p:nvSpPr>
          <p:cNvPr id="277" name="Google Shape;277;p38"/>
          <p:cNvSpPr/>
          <p:nvPr/>
        </p:nvSpPr>
        <p:spPr>
          <a:xfrm>
            <a:off x="336000" y="713075"/>
            <a:ext cx="11267700" cy="5102100"/>
          </a:xfrm>
          <a:prstGeom prst="rect">
            <a:avLst/>
          </a:prstGeom>
          <a:noFill/>
          <a:ln>
            <a:noFill/>
          </a:ln>
        </p:spPr>
        <p:txBody>
          <a:bodyPr anchorCtr="0" anchor="ctr" bIns="45700" lIns="91425" spcFirstLastPara="1" rIns="91425" wrap="square" tIns="45700">
            <a:noAutofit/>
          </a:bodyPr>
          <a:lstStyle/>
          <a:p>
            <a:pPr indent="0" lvl="0" marL="457200" marR="0" rtl="0" algn="l">
              <a:lnSpc>
                <a:spcPct val="115000"/>
              </a:lnSpc>
              <a:spcBef>
                <a:spcPts val="0"/>
              </a:spcBef>
              <a:spcAft>
                <a:spcPts val="0"/>
              </a:spcAft>
              <a:buNone/>
            </a:pPr>
            <a:r>
              <a:t/>
            </a:r>
            <a:endParaRPr/>
          </a:p>
          <a:p>
            <a:pPr indent="0" lvl="0" marL="457200" marR="0" rtl="0" algn="l">
              <a:lnSpc>
                <a:spcPct val="115000"/>
              </a:lnSpc>
              <a:spcBef>
                <a:spcPts val="0"/>
              </a:spcBef>
              <a:spcAft>
                <a:spcPts val="0"/>
              </a:spcAft>
              <a:buNone/>
            </a:pPr>
            <a:r>
              <a:t/>
            </a:r>
            <a:endParaRPr/>
          </a:p>
          <a:p>
            <a:pPr indent="0" lvl="0" marL="457200" marR="0" rtl="0" algn="l">
              <a:lnSpc>
                <a:spcPct val="115000"/>
              </a:lnSpc>
              <a:spcBef>
                <a:spcPts val="0"/>
              </a:spcBef>
              <a:spcAft>
                <a:spcPts val="0"/>
              </a:spcAft>
              <a:buNone/>
            </a:pPr>
            <a:r>
              <a:rPr b="1" lang="en-US"/>
              <a:t>Social Media Monitoring</a:t>
            </a:r>
            <a:r>
              <a:rPr lang="en-US"/>
              <a:t>: Sarcasm detection can be used to analyze social media posts and comments to understand the sentiment behind them more accurately.</a:t>
            </a:r>
            <a:endParaRPr/>
          </a:p>
          <a:p>
            <a:pPr indent="0" lvl="0" marL="0" marR="0" rtl="0" algn="l">
              <a:lnSpc>
                <a:spcPct val="115000"/>
              </a:lnSpc>
              <a:spcBef>
                <a:spcPts val="0"/>
              </a:spcBef>
              <a:spcAft>
                <a:spcPts val="0"/>
              </a:spcAft>
              <a:buNone/>
            </a:pPr>
            <a:r>
              <a:t/>
            </a:r>
            <a:endParaRPr/>
          </a:p>
          <a:p>
            <a:pPr indent="0" lvl="0" marL="457200" marR="0" rtl="0" algn="l">
              <a:lnSpc>
                <a:spcPct val="115000"/>
              </a:lnSpc>
              <a:spcBef>
                <a:spcPts val="0"/>
              </a:spcBef>
              <a:spcAft>
                <a:spcPts val="0"/>
              </a:spcAft>
              <a:buNone/>
            </a:pPr>
            <a:r>
              <a:t/>
            </a:r>
            <a:endParaRPr/>
          </a:p>
          <a:p>
            <a:pPr indent="0" lvl="0" marL="457200" marR="0" rtl="0" algn="l">
              <a:lnSpc>
                <a:spcPct val="115000"/>
              </a:lnSpc>
              <a:spcBef>
                <a:spcPts val="0"/>
              </a:spcBef>
              <a:spcAft>
                <a:spcPts val="0"/>
              </a:spcAft>
              <a:buNone/>
            </a:pPr>
            <a:r>
              <a:rPr b="1" lang="en-US"/>
              <a:t>Sentiment Analysis in Reviews</a:t>
            </a:r>
            <a:r>
              <a:rPr lang="en-US"/>
              <a:t>: Sarcasm detection can enhance sentiment analysis algorithms, especially when analyzing product or service reviews. It can help businesses accurately gauge the true sentiment of customers, even when it's expressed sarcastically.</a:t>
            </a:r>
            <a:endParaRPr/>
          </a:p>
          <a:p>
            <a:pPr indent="0" lvl="0" marL="0" marR="0" rtl="0" algn="l">
              <a:lnSpc>
                <a:spcPct val="115000"/>
              </a:lnSpc>
              <a:spcBef>
                <a:spcPts val="0"/>
              </a:spcBef>
              <a:spcAft>
                <a:spcPts val="0"/>
              </a:spcAft>
              <a:buNone/>
            </a:pPr>
            <a:r>
              <a:t/>
            </a:r>
            <a:endParaRPr/>
          </a:p>
          <a:p>
            <a:pPr indent="0" lvl="0" marL="457200" marR="0" rtl="0" algn="l">
              <a:lnSpc>
                <a:spcPct val="115000"/>
              </a:lnSpc>
              <a:spcBef>
                <a:spcPts val="0"/>
              </a:spcBef>
              <a:spcAft>
                <a:spcPts val="0"/>
              </a:spcAft>
              <a:buNone/>
            </a:pPr>
            <a:r>
              <a:t/>
            </a:r>
            <a:endParaRPr/>
          </a:p>
          <a:p>
            <a:pPr indent="0" lvl="0" marL="457200" marR="0" rtl="0" algn="l">
              <a:lnSpc>
                <a:spcPct val="115000"/>
              </a:lnSpc>
              <a:spcBef>
                <a:spcPts val="0"/>
              </a:spcBef>
              <a:spcAft>
                <a:spcPts val="0"/>
              </a:spcAft>
              <a:buNone/>
            </a:pPr>
            <a:r>
              <a:rPr b="1" lang="en-US"/>
              <a:t>Detecting Cyberbullying and Hate Speech</a:t>
            </a:r>
            <a:r>
              <a:rPr lang="en-US"/>
              <a:t>: Sarcasm detection can aid in identifying instances of cyberbullying and hate speech online. By flagging sarcastic remarks that contain harmful or offensive content, social media platforms and online communities can take appropriate action to prevent harassment and maintain a safe environment.</a:t>
            </a:r>
            <a:endParaRPr/>
          </a:p>
        </p:txBody>
      </p:sp>
      <p:sp>
        <p:nvSpPr>
          <p:cNvPr id="278" name="Google Shape;278;p38"/>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9"/>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4" name="Google Shape;284;p39"/>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00"/>
              </a:buClr>
              <a:buSzPts val="3200"/>
              <a:buFont typeface="Calibri"/>
              <a:buNone/>
            </a:pPr>
            <a:r>
              <a:rPr lang="en-US">
                <a:solidFill>
                  <a:srgbClr val="000000"/>
                </a:solidFill>
                <a:latin typeface="Calibri"/>
                <a:ea typeface="Calibri"/>
                <a:cs typeface="Calibri"/>
                <a:sym typeface="Calibri"/>
              </a:rPr>
              <a:t>Future Work</a:t>
            </a:r>
            <a:endParaRPr/>
          </a:p>
        </p:txBody>
      </p:sp>
      <p:sp>
        <p:nvSpPr>
          <p:cNvPr id="285" name="Google Shape;285;p39"/>
          <p:cNvSpPr txBox="1"/>
          <p:nvPr/>
        </p:nvSpPr>
        <p:spPr>
          <a:xfrm>
            <a:off x="1166575" y="1431700"/>
            <a:ext cx="103572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chemeClr val="dk1"/>
                </a:solidFill>
                <a:latin typeface="Calibri"/>
                <a:ea typeface="Calibri"/>
                <a:cs typeface="Calibri"/>
                <a:sym typeface="Calibri"/>
              </a:rPr>
              <a:t>Fine-tuning for specific domains</a:t>
            </a:r>
            <a:r>
              <a:rPr lang="en-US" sz="1500">
                <a:solidFill>
                  <a:schemeClr val="dk1"/>
                </a:solidFill>
                <a:latin typeface="Calibri"/>
                <a:ea typeface="Calibri"/>
                <a:cs typeface="Calibri"/>
                <a:sym typeface="Calibri"/>
              </a:rPr>
              <a:t>: Develop sarcasm detection models that are fine-tuned for specific domains such as social media, news articles, customer reviews, or online forums. Each domain may have its own unique patterns of sarcasm, and tailoring models to these specific contexts could improve detection accuracy.</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b="1" lang="en-US" sz="1500">
                <a:solidFill>
                  <a:schemeClr val="dk1"/>
                </a:solidFill>
                <a:latin typeface="Calibri"/>
                <a:ea typeface="Calibri"/>
                <a:cs typeface="Calibri"/>
                <a:sym typeface="Calibri"/>
              </a:rPr>
              <a:t>Multimodal sarcasm detection</a:t>
            </a:r>
            <a:r>
              <a:rPr lang="en-US" sz="1500">
                <a:solidFill>
                  <a:schemeClr val="dk1"/>
                </a:solidFill>
                <a:latin typeface="Calibri"/>
                <a:ea typeface="Calibri"/>
                <a:cs typeface="Calibri"/>
                <a:sym typeface="Calibri"/>
              </a:rPr>
              <a:t>: Explore sarcasm detection using multiple modalities such as text, images, and audio. Combining information from different modalities could provide richer context for detecting sarcasm, especially in platforms like social media where users often incorporate various types of media in their posts.</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b="1" lang="en-US" sz="1500">
                <a:solidFill>
                  <a:schemeClr val="dk1"/>
                </a:solidFill>
                <a:latin typeface="Calibri"/>
                <a:ea typeface="Calibri"/>
                <a:cs typeface="Calibri"/>
                <a:sym typeface="Calibri"/>
              </a:rPr>
              <a:t>Cross-lingual sarcasm detection</a:t>
            </a:r>
            <a:r>
              <a:rPr lang="en-US" sz="1500">
                <a:solidFill>
                  <a:schemeClr val="dk1"/>
                </a:solidFill>
                <a:latin typeface="Calibri"/>
                <a:ea typeface="Calibri"/>
                <a:cs typeface="Calibri"/>
                <a:sym typeface="Calibri"/>
              </a:rPr>
              <a:t>: Extend sarcasm detection to multiple languages to make it applicable in diverse linguistic contexts. This could involve adapting existing models to different languages or developing language-agnostic approaches that can detect sarcasm across multiple languages.</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0"/>
          <p:cNvSpPr txBox="1"/>
          <p:nvPr/>
        </p:nvSpPr>
        <p:spPr>
          <a:xfrm>
            <a:off x="838200" y="2766218"/>
            <a:ext cx="10515600" cy="1325563"/>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6000"/>
              <a:buFont typeface="Calibri"/>
              <a:buNone/>
            </a:pPr>
            <a:r>
              <a:rPr lang="en-US" sz="6000" cap="small">
                <a:solidFill>
                  <a:schemeClr val="dk1"/>
                </a:solidFill>
                <a:latin typeface="Calibri"/>
                <a:ea typeface="Calibri"/>
                <a:cs typeface="Calibri"/>
                <a:sym typeface="Calibri"/>
              </a:rPr>
              <a:t>Thank You</a:t>
            </a:r>
            <a:endParaRPr/>
          </a:p>
        </p:txBody>
      </p:sp>
      <p:sp>
        <p:nvSpPr>
          <p:cNvPr id="291" name="Google Shape;291;p40"/>
          <p:cNvSpPr txBox="1"/>
          <p:nvPr/>
        </p:nvSpPr>
        <p:spPr>
          <a:xfrm flipH="1">
            <a:off x="4228500" y="3429000"/>
            <a:ext cx="373499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cap="small">
                <a:solidFill>
                  <a:schemeClr val="dk1"/>
                </a:solidFill>
                <a:latin typeface="Calibri"/>
                <a:ea typeface="Calibri"/>
                <a:cs typeface="Calibri"/>
                <a:sym typeface="Calibri"/>
              </a:rPr>
              <a:t>Suggestions / Questions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1"/>
          <p:cNvSpPr txBox="1"/>
          <p:nvPr>
            <p:ph type="title"/>
          </p:nvPr>
        </p:nvSpPr>
        <p:spPr>
          <a:xfrm>
            <a:off x="336000" y="99000"/>
            <a:ext cx="11520000" cy="5355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lang="en-US"/>
              <a:t>Sentence Transformers</a:t>
            </a:r>
            <a:endParaRPr/>
          </a:p>
        </p:txBody>
      </p:sp>
      <p:sp>
        <p:nvSpPr>
          <p:cNvPr id="297" name="Google Shape;297;p41"/>
          <p:cNvSpPr/>
          <p:nvPr/>
        </p:nvSpPr>
        <p:spPr>
          <a:xfrm>
            <a:off x="336000" y="713010"/>
            <a:ext cx="11520000" cy="58608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200000"/>
              </a:lnSpc>
              <a:spcBef>
                <a:spcPts val="0"/>
              </a:spcBef>
              <a:spcAft>
                <a:spcPts val="0"/>
              </a:spcAft>
              <a:buClr>
                <a:schemeClr val="dk1"/>
              </a:buClr>
              <a:buSzPts val="1800"/>
              <a:buFont typeface="Arial"/>
              <a:buAutoNum type="arabicPeriod"/>
            </a:pPr>
            <a:r>
              <a:rPr lang="en-US" sz="1800">
                <a:solidFill>
                  <a:schemeClr val="dk1"/>
                </a:solidFill>
                <a:latin typeface="Calibri"/>
                <a:ea typeface="Calibri"/>
                <a:cs typeface="Calibri"/>
                <a:sym typeface="Calibri"/>
              </a:rPr>
              <a:t>Sentence transformers are used for getting semantic meaning and context of the input sentence. rather than just words which was done by BERT</a:t>
            </a:r>
            <a:endParaRPr sz="1800">
              <a:solidFill>
                <a:schemeClr val="dk1"/>
              </a:solidFill>
              <a:latin typeface="Calibri"/>
              <a:ea typeface="Calibri"/>
              <a:cs typeface="Calibri"/>
              <a:sym typeface="Calibri"/>
            </a:endParaRPr>
          </a:p>
          <a:p>
            <a:pPr indent="-285750" lvl="0" marL="285750" marR="0" rtl="0" algn="l">
              <a:lnSpc>
                <a:spcPct val="200000"/>
              </a:lnSpc>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Sentence Transformers involves 3 tasks:</a:t>
            </a:r>
            <a:endParaRPr sz="1800">
              <a:solidFill>
                <a:schemeClr val="dk1"/>
              </a:solidFill>
              <a:latin typeface="Calibri"/>
              <a:ea typeface="Calibri"/>
              <a:cs typeface="Calibri"/>
              <a:sym typeface="Calibri"/>
            </a:endParaRPr>
          </a:p>
          <a:p>
            <a:pPr indent="-342900" lvl="1" marL="914400" marR="0" rtl="0" algn="l">
              <a:lnSpc>
                <a:spcPct val="2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Natural Language Inference (NLI): The task typically requires the model to classify the relationship between the premise and hypothesis into one of three categories: entailment, contradiction, or neutral.</a:t>
            </a:r>
            <a:endParaRPr sz="1800">
              <a:solidFill>
                <a:schemeClr val="dk1"/>
              </a:solidFill>
              <a:latin typeface="Calibri"/>
              <a:ea typeface="Calibri"/>
              <a:cs typeface="Calibri"/>
              <a:sym typeface="Calibri"/>
            </a:endParaRPr>
          </a:p>
          <a:p>
            <a:pPr indent="-342900" lvl="1" marL="914400" marR="0" rtl="0" algn="l">
              <a:lnSpc>
                <a:spcPct val="2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Sentence Text Similarity (STS): Sentence text similarity refers to the degree of likeness or resemblance between two sentences in terms of their meaning, context, or semantic content.</a:t>
            </a:r>
            <a:endParaRPr sz="1800">
              <a:solidFill>
                <a:schemeClr val="dk1"/>
              </a:solidFill>
              <a:latin typeface="Calibri"/>
              <a:ea typeface="Calibri"/>
              <a:cs typeface="Calibri"/>
              <a:sym typeface="Calibri"/>
            </a:endParaRPr>
          </a:p>
          <a:p>
            <a:pPr indent="-342900" lvl="1" marL="914400" marR="0" rtl="0" algn="l">
              <a:lnSpc>
                <a:spcPct val="2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Triplet dataset: A triplet dataset consists of triplets of data points, typically comprising an anchor sample, a positive sample, and a negative sample, used for training models in tasks such as similarity learning or contrastive learning.</a:t>
            </a:r>
            <a:endParaRPr sz="1800">
              <a:solidFill>
                <a:schemeClr val="dk1"/>
              </a:solidFill>
              <a:latin typeface="Calibri"/>
              <a:ea typeface="Calibri"/>
              <a:cs typeface="Calibri"/>
              <a:sym typeface="Calibri"/>
            </a:endParaRPr>
          </a:p>
        </p:txBody>
      </p:sp>
      <p:sp>
        <p:nvSpPr>
          <p:cNvPr id="298" name="Google Shape;298;p41"/>
          <p:cNvSpPr txBox="1"/>
          <p:nvPr>
            <p:ph idx="12" type="sldNum"/>
          </p:nvPr>
        </p:nvSpPr>
        <p:spPr>
          <a:xfrm>
            <a:off x="9517800" y="6573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2"/>
          <p:cNvSpPr txBox="1"/>
          <p:nvPr>
            <p:ph type="title"/>
          </p:nvPr>
        </p:nvSpPr>
        <p:spPr>
          <a:xfrm>
            <a:off x="336000" y="99000"/>
            <a:ext cx="11520000" cy="535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Novelty</a:t>
            </a:r>
            <a:endParaRPr/>
          </a:p>
        </p:txBody>
      </p:sp>
      <p:sp>
        <p:nvSpPr>
          <p:cNvPr id="305" name="Google Shape;305;p42"/>
          <p:cNvSpPr txBox="1"/>
          <p:nvPr/>
        </p:nvSpPr>
        <p:spPr>
          <a:xfrm>
            <a:off x="336000" y="790550"/>
            <a:ext cx="11404500" cy="2955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We created  high-quality datasets featuring sarcastic news headlines within an Indian context, this database aims to bridge the gap by providing a structured and reliable dataset. </a:t>
            </a:r>
            <a:endParaRPr sz="18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800">
              <a:solidFill>
                <a:schemeClr val="dk1"/>
              </a:solidFill>
              <a:latin typeface="Calibri"/>
              <a:ea typeface="Calibri"/>
              <a:cs typeface="Calibri"/>
              <a:sym typeface="Calibri"/>
            </a:endParaRPr>
          </a:p>
          <a:p>
            <a:pPr indent="0" lvl="0" marL="457200" rtl="0" algn="l">
              <a:spcBef>
                <a:spcPts val="0"/>
              </a:spcBef>
              <a:spcAft>
                <a:spcPts val="0"/>
              </a:spcAft>
              <a:buNone/>
            </a:pPr>
            <a:r>
              <a:rPr lang="en-US" sz="1800">
                <a:solidFill>
                  <a:schemeClr val="dk1"/>
                </a:solidFill>
                <a:latin typeface="Calibri"/>
                <a:ea typeface="Calibri"/>
                <a:cs typeface="Calibri"/>
                <a:sym typeface="Calibri"/>
              </a:rPr>
              <a:t>Dataset Link - </a:t>
            </a:r>
            <a:r>
              <a:rPr lang="en-US" sz="1800" u="sng">
                <a:solidFill>
                  <a:schemeClr val="hlink"/>
                </a:solidFill>
                <a:latin typeface="Calibri"/>
                <a:ea typeface="Calibri"/>
                <a:cs typeface="Calibri"/>
                <a:sym typeface="Calibri"/>
                <a:hlinkClick r:id="rId3"/>
              </a:rPr>
              <a:t>https://www.kaggle.com/datasets/raviutsavk/indian-news-sarcastic-headline-dataset</a:t>
            </a:r>
            <a:endParaRPr sz="18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We fine tuned 6 models on this dataset.</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Also we are trying to extend these models on a new dataset named EMOFF_MEMES provided by IIT Patna. in paper Zombies Eat Brains, You are Safe: A Knowledge Infusion-based Multitasking System for Sarcasm Detection in Meme</a:t>
            </a:r>
            <a:endParaRPr sz="18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8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